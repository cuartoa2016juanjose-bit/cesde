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60" r:id="rId4"/>
    <p:sldId id="261" r:id="rId5"/>
    <p:sldId id="257" r:id="rId6"/>
    <p:sldId id="262" r:id="rId7"/>
    <p:sldId id="263" r:id="rId8"/>
    <p:sldId id="264" r:id="rId9"/>
    <p:sldId id="265" r:id="rId10"/>
    <p:sldId id="258"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114" d="100"/>
          <a:sy n="114" d="100"/>
        </p:scale>
        <p:origin x="462"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n-US"/>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editar el estilo de subtítulo del patrón</a:t>
            </a:r>
            <a:endParaRPr lang="en-US"/>
          </a:p>
        </p:txBody>
      </p:sp>
      <p:sp>
        <p:nvSpPr>
          <p:cNvPr id="4" name="Marcador de fecha 3"/>
          <p:cNvSpPr>
            <a:spLocks noGrp="1"/>
          </p:cNvSpPr>
          <p:nvPr>
            <p:ph type="dt" sz="half" idx="10"/>
          </p:nvPr>
        </p:nvSpPr>
        <p:spPr/>
        <p:txBody>
          <a:bodyPr/>
          <a:lstStyle/>
          <a:p>
            <a:fld id="{1C92AEC9-B945-430E-A029-403E17083AD8}" type="datetimeFigureOut">
              <a:rPr lang="en-US" smtClean="0"/>
              <a:t>3/13/2025</a:t>
            </a:fld>
            <a:endParaRPr lang="en-US"/>
          </a:p>
        </p:txBody>
      </p:sp>
      <p:sp>
        <p:nvSpPr>
          <p:cNvPr id="5" name="Marcador de pie de página 4"/>
          <p:cNvSpPr>
            <a:spLocks noGrp="1"/>
          </p:cNvSpPr>
          <p:nvPr>
            <p:ph type="ftr" sz="quarter" idx="11"/>
          </p:nvPr>
        </p:nvSpPr>
        <p:spPr/>
        <p:txBody>
          <a:bodyPr/>
          <a:lstStyle/>
          <a:p>
            <a:endParaRPr lang="en-US"/>
          </a:p>
        </p:txBody>
      </p:sp>
      <p:sp>
        <p:nvSpPr>
          <p:cNvPr id="6" name="Marcador de número de diapositiva 5"/>
          <p:cNvSpPr>
            <a:spLocks noGrp="1"/>
          </p:cNvSpPr>
          <p:nvPr>
            <p:ph type="sldNum" sz="quarter" idx="12"/>
          </p:nvPr>
        </p:nvSpPr>
        <p:spPr/>
        <p:txBody>
          <a:bodyPr/>
          <a:lstStyle/>
          <a:p>
            <a:fld id="{711B9ECF-5DF9-4D57-BE20-8F8436255FD1}" type="slidenum">
              <a:rPr lang="en-US" smtClean="0"/>
              <a:t>‹Nº›</a:t>
            </a:fld>
            <a:endParaRPr lang="en-US"/>
          </a:p>
        </p:txBody>
      </p:sp>
    </p:spTree>
    <p:extLst>
      <p:ext uri="{BB962C8B-B14F-4D97-AF65-F5344CB8AC3E}">
        <p14:creationId xmlns:p14="http://schemas.microsoft.com/office/powerpoint/2010/main" val="27437296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n-US"/>
          </a:p>
        </p:txBody>
      </p:sp>
      <p:sp>
        <p:nvSpPr>
          <p:cNvPr id="3" name="Marcador de contenido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p:cNvSpPr>
            <a:spLocks noGrp="1"/>
          </p:cNvSpPr>
          <p:nvPr>
            <p:ph type="dt" sz="half" idx="10"/>
          </p:nvPr>
        </p:nvSpPr>
        <p:spPr/>
        <p:txBody>
          <a:bodyPr/>
          <a:lstStyle/>
          <a:p>
            <a:fld id="{1C92AEC9-B945-430E-A029-403E17083AD8}" type="datetimeFigureOut">
              <a:rPr lang="en-US" smtClean="0"/>
              <a:t>3/13/2025</a:t>
            </a:fld>
            <a:endParaRPr lang="en-US"/>
          </a:p>
        </p:txBody>
      </p:sp>
      <p:sp>
        <p:nvSpPr>
          <p:cNvPr id="5" name="Marcador de pie de página 4"/>
          <p:cNvSpPr>
            <a:spLocks noGrp="1"/>
          </p:cNvSpPr>
          <p:nvPr>
            <p:ph type="ftr" sz="quarter" idx="11"/>
          </p:nvPr>
        </p:nvSpPr>
        <p:spPr/>
        <p:txBody>
          <a:bodyPr/>
          <a:lstStyle/>
          <a:p>
            <a:endParaRPr lang="en-US"/>
          </a:p>
        </p:txBody>
      </p:sp>
      <p:sp>
        <p:nvSpPr>
          <p:cNvPr id="6" name="Marcador de número de diapositiva 5"/>
          <p:cNvSpPr>
            <a:spLocks noGrp="1"/>
          </p:cNvSpPr>
          <p:nvPr>
            <p:ph type="sldNum" sz="quarter" idx="12"/>
          </p:nvPr>
        </p:nvSpPr>
        <p:spPr/>
        <p:txBody>
          <a:bodyPr/>
          <a:lstStyle/>
          <a:p>
            <a:fld id="{711B9ECF-5DF9-4D57-BE20-8F8436255FD1}" type="slidenum">
              <a:rPr lang="en-US" smtClean="0"/>
              <a:t>‹Nº›</a:t>
            </a:fld>
            <a:endParaRPr lang="en-US"/>
          </a:p>
        </p:txBody>
      </p:sp>
    </p:spTree>
    <p:extLst>
      <p:ext uri="{BB962C8B-B14F-4D97-AF65-F5344CB8AC3E}">
        <p14:creationId xmlns:p14="http://schemas.microsoft.com/office/powerpoint/2010/main" val="1608646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n-US"/>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el estilo de texto del patrón</a:t>
            </a:r>
          </a:p>
        </p:txBody>
      </p:sp>
      <p:sp>
        <p:nvSpPr>
          <p:cNvPr id="4" name="Marcador de fecha 3"/>
          <p:cNvSpPr>
            <a:spLocks noGrp="1"/>
          </p:cNvSpPr>
          <p:nvPr>
            <p:ph type="dt" sz="half" idx="10"/>
          </p:nvPr>
        </p:nvSpPr>
        <p:spPr/>
        <p:txBody>
          <a:bodyPr/>
          <a:lstStyle/>
          <a:p>
            <a:fld id="{1C92AEC9-B945-430E-A029-403E17083AD8}" type="datetimeFigureOut">
              <a:rPr lang="en-US" smtClean="0"/>
              <a:t>3/13/2025</a:t>
            </a:fld>
            <a:endParaRPr lang="en-US"/>
          </a:p>
        </p:txBody>
      </p:sp>
      <p:sp>
        <p:nvSpPr>
          <p:cNvPr id="5" name="Marcador de pie de página 4"/>
          <p:cNvSpPr>
            <a:spLocks noGrp="1"/>
          </p:cNvSpPr>
          <p:nvPr>
            <p:ph type="ftr" sz="quarter" idx="11"/>
          </p:nvPr>
        </p:nvSpPr>
        <p:spPr/>
        <p:txBody>
          <a:bodyPr/>
          <a:lstStyle/>
          <a:p>
            <a:endParaRPr lang="en-US"/>
          </a:p>
        </p:txBody>
      </p:sp>
      <p:sp>
        <p:nvSpPr>
          <p:cNvPr id="6" name="Marcador de número de diapositiva 5"/>
          <p:cNvSpPr>
            <a:spLocks noGrp="1"/>
          </p:cNvSpPr>
          <p:nvPr>
            <p:ph type="sldNum" sz="quarter" idx="12"/>
          </p:nvPr>
        </p:nvSpPr>
        <p:spPr/>
        <p:txBody>
          <a:bodyPr/>
          <a:lstStyle/>
          <a:p>
            <a:fld id="{711B9ECF-5DF9-4D57-BE20-8F8436255FD1}" type="slidenum">
              <a:rPr lang="en-US" smtClean="0"/>
              <a:t>‹Nº›</a:t>
            </a:fld>
            <a:endParaRPr lang="en-US"/>
          </a:p>
        </p:txBody>
      </p:sp>
    </p:spTree>
    <p:extLst>
      <p:ext uri="{BB962C8B-B14F-4D97-AF65-F5344CB8AC3E}">
        <p14:creationId xmlns:p14="http://schemas.microsoft.com/office/powerpoint/2010/main" val="8592163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n-US"/>
          </a:p>
        </p:txBody>
      </p:sp>
      <p:sp>
        <p:nvSpPr>
          <p:cNvPr id="3" name="Marcador de contenido 2"/>
          <p:cNvSpPr>
            <a:spLocks noGrp="1"/>
          </p:cNvSpPr>
          <p:nvPr>
            <p:ph sz="half" idx="1"/>
          </p:nvPr>
        </p:nvSpPr>
        <p:spPr>
          <a:xfrm>
            <a:off x="838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contenido 3"/>
          <p:cNvSpPr>
            <a:spLocks noGrp="1"/>
          </p:cNvSpPr>
          <p:nvPr>
            <p:ph sz="half" idx="2"/>
          </p:nvPr>
        </p:nvSpPr>
        <p:spPr>
          <a:xfrm>
            <a:off x="6172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Marcador de fecha 4"/>
          <p:cNvSpPr>
            <a:spLocks noGrp="1"/>
          </p:cNvSpPr>
          <p:nvPr>
            <p:ph type="dt" sz="half" idx="10"/>
          </p:nvPr>
        </p:nvSpPr>
        <p:spPr/>
        <p:txBody>
          <a:bodyPr/>
          <a:lstStyle/>
          <a:p>
            <a:fld id="{1C92AEC9-B945-430E-A029-403E17083AD8}" type="datetimeFigureOut">
              <a:rPr lang="en-US" smtClean="0"/>
              <a:t>3/13/2025</a:t>
            </a:fld>
            <a:endParaRPr lang="en-US"/>
          </a:p>
        </p:txBody>
      </p:sp>
      <p:sp>
        <p:nvSpPr>
          <p:cNvPr id="6" name="Marcador de pie de página 5"/>
          <p:cNvSpPr>
            <a:spLocks noGrp="1"/>
          </p:cNvSpPr>
          <p:nvPr>
            <p:ph type="ftr" sz="quarter" idx="11"/>
          </p:nvPr>
        </p:nvSpPr>
        <p:spPr/>
        <p:txBody>
          <a:bodyPr/>
          <a:lstStyle/>
          <a:p>
            <a:endParaRPr lang="en-US"/>
          </a:p>
        </p:txBody>
      </p:sp>
      <p:sp>
        <p:nvSpPr>
          <p:cNvPr id="7" name="Marcador de número de diapositiva 6"/>
          <p:cNvSpPr>
            <a:spLocks noGrp="1"/>
          </p:cNvSpPr>
          <p:nvPr>
            <p:ph type="sldNum" sz="quarter" idx="12"/>
          </p:nvPr>
        </p:nvSpPr>
        <p:spPr/>
        <p:txBody>
          <a:bodyPr/>
          <a:lstStyle/>
          <a:p>
            <a:fld id="{711B9ECF-5DF9-4D57-BE20-8F8436255FD1}" type="slidenum">
              <a:rPr lang="en-US" smtClean="0"/>
              <a:t>‹Nº›</a:t>
            </a:fld>
            <a:endParaRPr lang="en-US"/>
          </a:p>
        </p:txBody>
      </p:sp>
    </p:spTree>
    <p:extLst>
      <p:ext uri="{BB962C8B-B14F-4D97-AF65-F5344CB8AC3E}">
        <p14:creationId xmlns:p14="http://schemas.microsoft.com/office/powerpoint/2010/main" val="1044217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endParaRPr lang="en-US"/>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7" name="Marcador de fecha 6"/>
          <p:cNvSpPr>
            <a:spLocks noGrp="1"/>
          </p:cNvSpPr>
          <p:nvPr>
            <p:ph type="dt" sz="half" idx="10"/>
          </p:nvPr>
        </p:nvSpPr>
        <p:spPr/>
        <p:txBody>
          <a:bodyPr/>
          <a:lstStyle/>
          <a:p>
            <a:fld id="{1C92AEC9-B945-430E-A029-403E17083AD8}" type="datetimeFigureOut">
              <a:rPr lang="en-US" smtClean="0"/>
              <a:t>3/13/2025</a:t>
            </a:fld>
            <a:endParaRPr lang="en-US"/>
          </a:p>
        </p:txBody>
      </p:sp>
      <p:sp>
        <p:nvSpPr>
          <p:cNvPr id="8" name="Marcador de pie de página 7"/>
          <p:cNvSpPr>
            <a:spLocks noGrp="1"/>
          </p:cNvSpPr>
          <p:nvPr>
            <p:ph type="ftr" sz="quarter" idx="11"/>
          </p:nvPr>
        </p:nvSpPr>
        <p:spPr/>
        <p:txBody>
          <a:bodyPr/>
          <a:lstStyle/>
          <a:p>
            <a:endParaRPr lang="en-US"/>
          </a:p>
        </p:txBody>
      </p:sp>
      <p:sp>
        <p:nvSpPr>
          <p:cNvPr id="9" name="Marcador de número de diapositiva 8"/>
          <p:cNvSpPr>
            <a:spLocks noGrp="1"/>
          </p:cNvSpPr>
          <p:nvPr>
            <p:ph type="sldNum" sz="quarter" idx="12"/>
          </p:nvPr>
        </p:nvSpPr>
        <p:spPr/>
        <p:txBody>
          <a:bodyPr/>
          <a:lstStyle/>
          <a:p>
            <a:fld id="{711B9ECF-5DF9-4D57-BE20-8F8436255FD1}" type="slidenum">
              <a:rPr lang="en-US" smtClean="0"/>
              <a:t>‹Nº›</a:t>
            </a:fld>
            <a:endParaRPr lang="en-US"/>
          </a:p>
        </p:txBody>
      </p:sp>
    </p:spTree>
    <p:extLst>
      <p:ext uri="{BB962C8B-B14F-4D97-AF65-F5344CB8AC3E}">
        <p14:creationId xmlns:p14="http://schemas.microsoft.com/office/powerpoint/2010/main" val="22946963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n-US"/>
          </a:p>
        </p:txBody>
      </p:sp>
      <p:sp>
        <p:nvSpPr>
          <p:cNvPr id="3" name="Marcador de fecha 2"/>
          <p:cNvSpPr>
            <a:spLocks noGrp="1"/>
          </p:cNvSpPr>
          <p:nvPr>
            <p:ph type="dt" sz="half" idx="10"/>
          </p:nvPr>
        </p:nvSpPr>
        <p:spPr/>
        <p:txBody>
          <a:bodyPr/>
          <a:lstStyle/>
          <a:p>
            <a:fld id="{1C92AEC9-B945-430E-A029-403E17083AD8}" type="datetimeFigureOut">
              <a:rPr lang="en-US" smtClean="0"/>
              <a:t>3/13/2025</a:t>
            </a:fld>
            <a:endParaRPr lang="en-US"/>
          </a:p>
        </p:txBody>
      </p:sp>
      <p:sp>
        <p:nvSpPr>
          <p:cNvPr id="4" name="Marcador de pie de página 3"/>
          <p:cNvSpPr>
            <a:spLocks noGrp="1"/>
          </p:cNvSpPr>
          <p:nvPr>
            <p:ph type="ftr" sz="quarter" idx="11"/>
          </p:nvPr>
        </p:nvSpPr>
        <p:spPr/>
        <p:txBody>
          <a:bodyPr/>
          <a:lstStyle/>
          <a:p>
            <a:endParaRPr lang="en-US"/>
          </a:p>
        </p:txBody>
      </p:sp>
      <p:sp>
        <p:nvSpPr>
          <p:cNvPr id="5" name="Marcador de número de diapositiva 4"/>
          <p:cNvSpPr>
            <a:spLocks noGrp="1"/>
          </p:cNvSpPr>
          <p:nvPr>
            <p:ph type="sldNum" sz="quarter" idx="12"/>
          </p:nvPr>
        </p:nvSpPr>
        <p:spPr/>
        <p:txBody>
          <a:bodyPr/>
          <a:lstStyle/>
          <a:p>
            <a:fld id="{711B9ECF-5DF9-4D57-BE20-8F8436255FD1}" type="slidenum">
              <a:rPr lang="en-US" smtClean="0"/>
              <a:t>‹Nº›</a:t>
            </a:fld>
            <a:endParaRPr lang="en-US"/>
          </a:p>
        </p:txBody>
      </p:sp>
    </p:spTree>
    <p:extLst>
      <p:ext uri="{BB962C8B-B14F-4D97-AF65-F5344CB8AC3E}">
        <p14:creationId xmlns:p14="http://schemas.microsoft.com/office/powerpoint/2010/main" val="26970231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1C92AEC9-B945-430E-A029-403E17083AD8}" type="datetimeFigureOut">
              <a:rPr lang="en-US" smtClean="0"/>
              <a:t>3/13/2025</a:t>
            </a:fld>
            <a:endParaRPr lang="en-US"/>
          </a:p>
        </p:txBody>
      </p:sp>
      <p:sp>
        <p:nvSpPr>
          <p:cNvPr id="3" name="Marcador de pie de página 2"/>
          <p:cNvSpPr>
            <a:spLocks noGrp="1"/>
          </p:cNvSpPr>
          <p:nvPr>
            <p:ph type="ftr" sz="quarter" idx="11"/>
          </p:nvPr>
        </p:nvSpPr>
        <p:spPr/>
        <p:txBody>
          <a:bodyPr/>
          <a:lstStyle/>
          <a:p>
            <a:endParaRPr lang="en-US"/>
          </a:p>
        </p:txBody>
      </p:sp>
      <p:sp>
        <p:nvSpPr>
          <p:cNvPr id="4" name="Marcador de número de diapositiva 3"/>
          <p:cNvSpPr>
            <a:spLocks noGrp="1"/>
          </p:cNvSpPr>
          <p:nvPr>
            <p:ph type="sldNum" sz="quarter" idx="12"/>
          </p:nvPr>
        </p:nvSpPr>
        <p:spPr/>
        <p:txBody>
          <a:bodyPr/>
          <a:lstStyle/>
          <a:p>
            <a:fld id="{711B9ECF-5DF9-4D57-BE20-8F8436255FD1}" type="slidenum">
              <a:rPr lang="en-US" smtClean="0"/>
              <a:t>‹Nº›</a:t>
            </a:fld>
            <a:endParaRPr lang="en-US"/>
          </a:p>
        </p:txBody>
      </p:sp>
    </p:spTree>
    <p:extLst>
      <p:ext uri="{BB962C8B-B14F-4D97-AF65-F5344CB8AC3E}">
        <p14:creationId xmlns:p14="http://schemas.microsoft.com/office/powerpoint/2010/main" val="20263711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1C92AEC9-B945-430E-A029-403E17083AD8}" type="datetimeFigureOut">
              <a:rPr lang="en-US" smtClean="0"/>
              <a:t>3/13/2025</a:t>
            </a:fld>
            <a:endParaRPr lang="en-US"/>
          </a:p>
        </p:txBody>
      </p:sp>
      <p:sp>
        <p:nvSpPr>
          <p:cNvPr id="6" name="Marcador de pie de página 5"/>
          <p:cNvSpPr>
            <a:spLocks noGrp="1"/>
          </p:cNvSpPr>
          <p:nvPr>
            <p:ph type="ftr" sz="quarter" idx="11"/>
          </p:nvPr>
        </p:nvSpPr>
        <p:spPr/>
        <p:txBody>
          <a:bodyPr/>
          <a:lstStyle/>
          <a:p>
            <a:endParaRPr lang="en-US"/>
          </a:p>
        </p:txBody>
      </p:sp>
      <p:sp>
        <p:nvSpPr>
          <p:cNvPr id="7" name="Marcador de número de diapositiva 6"/>
          <p:cNvSpPr>
            <a:spLocks noGrp="1"/>
          </p:cNvSpPr>
          <p:nvPr>
            <p:ph type="sldNum" sz="quarter" idx="12"/>
          </p:nvPr>
        </p:nvSpPr>
        <p:spPr/>
        <p:txBody>
          <a:bodyPr/>
          <a:lstStyle/>
          <a:p>
            <a:fld id="{711B9ECF-5DF9-4D57-BE20-8F8436255FD1}" type="slidenum">
              <a:rPr lang="en-US" smtClean="0"/>
              <a:t>‹Nº›</a:t>
            </a:fld>
            <a:endParaRPr lang="en-US"/>
          </a:p>
        </p:txBody>
      </p:sp>
    </p:spTree>
    <p:extLst>
      <p:ext uri="{BB962C8B-B14F-4D97-AF65-F5344CB8AC3E}">
        <p14:creationId xmlns:p14="http://schemas.microsoft.com/office/powerpoint/2010/main" val="4898777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1C92AEC9-B945-430E-A029-403E17083AD8}" type="datetimeFigureOut">
              <a:rPr lang="en-US" smtClean="0"/>
              <a:t>3/13/2025</a:t>
            </a:fld>
            <a:endParaRPr lang="en-US"/>
          </a:p>
        </p:txBody>
      </p:sp>
      <p:sp>
        <p:nvSpPr>
          <p:cNvPr id="6" name="Marcador de pie de página 5"/>
          <p:cNvSpPr>
            <a:spLocks noGrp="1"/>
          </p:cNvSpPr>
          <p:nvPr>
            <p:ph type="ftr" sz="quarter" idx="11"/>
          </p:nvPr>
        </p:nvSpPr>
        <p:spPr/>
        <p:txBody>
          <a:bodyPr/>
          <a:lstStyle/>
          <a:p>
            <a:endParaRPr lang="en-US"/>
          </a:p>
        </p:txBody>
      </p:sp>
      <p:sp>
        <p:nvSpPr>
          <p:cNvPr id="7" name="Marcador de número de diapositiva 6"/>
          <p:cNvSpPr>
            <a:spLocks noGrp="1"/>
          </p:cNvSpPr>
          <p:nvPr>
            <p:ph type="sldNum" sz="quarter" idx="12"/>
          </p:nvPr>
        </p:nvSpPr>
        <p:spPr/>
        <p:txBody>
          <a:bodyPr/>
          <a:lstStyle/>
          <a:p>
            <a:fld id="{711B9ECF-5DF9-4D57-BE20-8F8436255FD1}" type="slidenum">
              <a:rPr lang="en-US" smtClean="0"/>
              <a:t>‹Nº›</a:t>
            </a:fld>
            <a:endParaRPr lang="en-US"/>
          </a:p>
        </p:txBody>
      </p:sp>
    </p:spTree>
    <p:extLst>
      <p:ext uri="{BB962C8B-B14F-4D97-AF65-F5344CB8AC3E}">
        <p14:creationId xmlns:p14="http://schemas.microsoft.com/office/powerpoint/2010/main" val="31805188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n-US"/>
          </a:p>
        </p:txBody>
      </p:sp>
      <p:sp>
        <p:nvSpPr>
          <p:cNvPr id="3" name="Marcador de texto vertical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p:cNvSpPr>
            <a:spLocks noGrp="1"/>
          </p:cNvSpPr>
          <p:nvPr>
            <p:ph type="dt" sz="half" idx="10"/>
          </p:nvPr>
        </p:nvSpPr>
        <p:spPr/>
        <p:txBody>
          <a:bodyPr/>
          <a:lstStyle/>
          <a:p>
            <a:fld id="{1C92AEC9-B945-430E-A029-403E17083AD8}" type="datetimeFigureOut">
              <a:rPr lang="en-US" smtClean="0"/>
              <a:t>3/13/2025</a:t>
            </a:fld>
            <a:endParaRPr lang="en-US"/>
          </a:p>
        </p:txBody>
      </p:sp>
      <p:sp>
        <p:nvSpPr>
          <p:cNvPr id="5" name="Marcador de pie de página 4"/>
          <p:cNvSpPr>
            <a:spLocks noGrp="1"/>
          </p:cNvSpPr>
          <p:nvPr>
            <p:ph type="ftr" sz="quarter" idx="11"/>
          </p:nvPr>
        </p:nvSpPr>
        <p:spPr/>
        <p:txBody>
          <a:bodyPr/>
          <a:lstStyle/>
          <a:p>
            <a:endParaRPr lang="en-US"/>
          </a:p>
        </p:txBody>
      </p:sp>
      <p:sp>
        <p:nvSpPr>
          <p:cNvPr id="6" name="Marcador de número de diapositiva 5"/>
          <p:cNvSpPr>
            <a:spLocks noGrp="1"/>
          </p:cNvSpPr>
          <p:nvPr>
            <p:ph type="sldNum" sz="quarter" idx="12"/>
          </p:nvPr>
        </p:nvSpPr>
        <p:spPr/>
        <p:txBody>
          <a:bodyPr/>
          <a:lstStyle/>
          <a:p>
            <a:fld id="{711B9ECF-5DF9-4D57-BE20-8F8436255FD1}" type="slidenum">
              <a:rPr lang="en-US" smtClean="0"/>
              <a:t>‹Nº›</a:t>
            </a:fld>
            <a:endParaRPr lang="en-US"/>
          </a:p>
        </p:txBody>
      </p:sp>
    </p:spTree>
    <p:extLst>
      <p:ext uri="{BB962C8B-B14F-4D97-AF65-F5344CB8AC3E}">
        <p14:creationId xmlns:p14="http://schemas.microsoft.com/office/powerpoint/2010/main" val="10081751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n-US"/>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p:cNvSpPr>
            <a:spLocks noGrp="1"/>
          </p:cNvSpPr>
          <p:nvPr>
            <p:ph type="dt" sz="half" idx="10"/>
          </p:nvPr>
        </p:nvSpPr>
        <p:spPr/>
        <p:txBody>
          <a:bodyPr/>
          <a:lstStyle/>
          <a:p>
            <a:fld id="{1C92AEC9-B945-430E-A029-403E17083AD8}" type="datetimeFigureOut">
              <a:rPr lang="en-US" smtClean="0"/>
              <a:t>3/13/2025</a:t>
            </a:fld>
            <a:endParaRPr lang="en-US"/>
          </a:p>
        </p:txBody>
      </p:sp>
      <p:sp>
        <p:nvSpPr>
          <p:cNvPr id="5" name="Marcador de pie de página 4"/>
          <p:cNvSpPr>
            <a:spLocks noGrp="1"/>
          </p:cNvSpPr>
          <p:nvPr>
            <p:ph type="ftr" sz="quarter" idx="11"/>
          </p:nvPr>
        </p:nvSpPr>
        <p:spPr/>
        <p:txBody>
          <a:bodyPr/>
          <a:lstStyle/>
          <a:p>
            <a:endParaRPr lang="en-US"/>
          </a:p>
        </p:txBody>
      </p:sp>
      <p:sp>
        <p:nvSpPr>
          <p:cNvPr id="6" name="Marcador de número de diapositiva 5"/>
          <p:cNvSpPr>
            <a:spLocks noGrp="1"/>
          </p:cNvSpPr>
          <p:nvPr>
            <p:ph type="sldNum" sz="quarter" idx="12"/>
          </p:nvPr>
        </p:nvSpPr>
        <p:spPr/>
        <p:txBody>
          <a:bodyPr/>
          <a:lstStyle/>
          <a:p>
            <a:fld id="{711B9ECF-5DF9-4D57-BE20-8F8436255FD1}" type="slidenum">
              <a:rPr lang="en-US" smtClean="0"/>
              <a:t>‹Nº›</a:t>
            </a:fld>
            <a:endParaRPr lang="en-US"/>
          </a:p>
        </p:txBody>
      </p:sp>
    </p:spTree>
    <p:extLst>
      <p:ext uri="{BB962C8B-B14F-4D97-AF65-F5344CB8AC3E}">
        <p14:creationId xmlns:p14="http://schemas.microsoft.com/office/powerpoint/2010/main" val="36467387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n-US"/>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C92AEC9-B945-430E-A029-403E17083AD8}" type="datetimeFigureOut">
              <a:rPr lang="en-US" smtClean="0"/>
              <a:t>3/13/2025</a:t>
            </a:fld>
            <a:endParaRPr lang="en-US"/>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11B9ECF-5DF9-4D57-BE20-8F8436255FD1}" type="slidenum">
              <a:rPr lang="en-US" smtClean="0"/>
              <a:t>‹Nº›</a:t>
            </a:fld>
            <a:endParaRPr lang="en-US"/>
          </a:p>
        </p:txBody>
      </p:sp>
    </p:spTree>
    <p:extLst>
      <p:ext uri="{BB962C8B-B14F-4D97-AF65-F5344CB8AC3E}">
        <p14:creationId xmlns:p14="http://schemas.microsoft.com/office/powerpoint/2010/main" val="26801079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hyperlink" Target="https://codigofacilito.com/articulos/mvc-model-view-controller-explicado" TargetMode="External"/><Relationship Id="rId2" Type="http://schemas.openxmlformats.org/officeDocument/2006/relationships/hyperlink" Target="https://code.google.com/archive/p/gestion-matricula/wikis/MVC.wiki" TargetMode="External"/><Relationship Id="rId1" Type="http://schemas.openxmlformats.org/officeDocument/2006/relationships/slideLayout" Target="../slideLayouts/slideLayout2.xml"/><Relationship Id="rId5" Type="http://schemas.openxmlformats.org/officeDocument/2006/relationships/hyperlink" Target="https://reactiveprogramming.io/blog/es/estilos-arquitectonicos/capas" TargetMode="External"/><Relationship Id="rId4" Type="http://schemas.openxmlformats.org/officeDocument/2006/relationships/hyperlink" Target="https://platzi.com/tutoriales/1248-pro-arquitectura/5439-patron-arquitectonico-de-capas-layer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2180455"/>
            <a:ext cx="9144000" cy="1124448"/>
          </a:xfrm>
        </p:spPr>
        <p:txBody>
          <a:bodyPr/>
          <a:lstStyle/>
          <a:p>
            <a:r>
              <a:rPr lang="es-ES" dirty="0"/>
              <a:t>Patrones de Diseño</a:t>
            </a:r>
            <a:endParaRPr lang="en-US" dirty="0"/>
          </a:p>
        </p:txBody>
      </p:sp>
      <p:sp>
        <p:nvSpPr>
          <p:cNvPr id="3" name="Subtítulo 2"/>
          <p:cNvSpPr>
            <a:spLocks noGrp="1"/>
          </p:cNvSpPr>
          <p:nvPr>
            <p:ph type="subTitle" idx="1"/>
          </p:nvPr>
        </p:nvSpPr>
        <p:spPr>
          <a:xfrm>
            <a:off x="1367246" y="3696788"/>
            <a:ext cx="9144000" cy="731520"/>
          </a:xfrm>
        </p:spPr>
        <p:txBody>
          <a:bodyPr>
            <a:normAutofit/>
          </a:bodyPr>
          <a:lstStyle/>
          <a:p>
            <a:pPr algn="r"/>
            <a:r>
              <a:rPr lang="es-ES" b="1" dirty="0"/>
              <a:t>Por: Freddy Moscoso Ceballos</a:t>
            </a:r>
            <a:endParaRPr lang="en-US" b="1" dirty="0"/>
          </a:p>
        </p:txBody>
      </p:sp>
    </p:spTree>
    <p:extLst>
      <p:ext uri="{BB962C8B-B14F-4D97-AF65-F5344CB8AC3E}">
        <p14:creationId xmlns:p14="http://schemas.microsoft.com/office/powerpoint/2010/main" val="16437706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55766" y="1175657"/>
            <a:ext cx="10515600" cy="828539"/>
          </a:xfrm>
        </p:spPr>
        <p:txBody>
          <a:bodyPr/>
          <a:lstStyle/>
          <a:p>
            <a:pPr algn="ctr"/>
            <a:r>
              <a:rPr lang="es-ES" dirty="0"/>
              <a:t>Arquitectura por capas</a:t>
            </a:r>
            <a:endParaRPr lang="en-US" dirty="0"/>
          </a:p>
        </p:txBody>
      </p:sp>
      <p:sp>
        <p:nvSpPr>
          <p:cNvPr id="3" name="Marcador de contenido 2"/>
          <p:cNvSpPr>
            <a:spLocks noGrp="1"/>
          </p:cNvSpPr>
          <p:nvPr>
            <p:ph idx="1"/>
          </p:nvPr>
        </p:nvSpPr>
        <p:spPr>
          <a:xfrm>
            <a:off x="851263" y="2178323"/>
            <a:ext cx="10515600" cy="4157163"/>
          </a:xfrm>
        </p:spPr>
        <p:txBody>
          <a:bodyPr>
            <a:normAutofit lnSpcReduction="10000"/>
          </a:bodyPr>
          <a:lstStyle/>
          <a:p>
            <a:pPr lvl="0" algn="just"/>
            <a:r>
              <a:rPr lang="es-CO" dirty="0"/>
              <a:t>Se basa en una distribución jerárquica de las roles separando las responsabilidades en tres o mas capas según las necesidades de la aplicación, sus capas principales son:</a:t>
            </a:r>
          </a:p>
          <a:p>
            <a:pPr lvl="0" algn="just">
              <a:buFontTx/>
              <a:buChar char="-"/>
            </a:pPr>
            <a:r>
              <a:rPr lang="es-CO" dirty="0"/>
              <a:t>La capa de presentación es la encargada de interactuar con los     usuarios y a su vez hace las peticiones a la capa de Reglas del negocio</a:t>
            </a:r>
          </a:p>
          <a:p>
            <a:pPr lvl="0" algn="just">
              <a:buFontTx/>
              <a:buChar char="-"/>
            </a:pPr>
            <a:r>
              <a:rPr lang="es-CO" dirty="0"/>
              <a:t>La capa de Reglas del negocio contiene la funcionalidad que implementa la aplicación, es todo lo relacionado con la lógica del negocio.</a:t>
            </a:r>
          </a:p>
          <a:p>
            <a:pPr marL="0" lvl="0" indent="0" algn="just">
              <a:buNone/>
            </a:pPr>
            <a:r>
              <a:rPr lang="es-CO" dirty="0"/>
              <a:t>   Recibe las peticiones de la capa de presentación y se comunica, si es             necesario, con la capa  de datos</a:t>
            </a:r>
          </a:p>
          <a:p>
            <a:pPr marL="0" lvl="0" indent="0" algn="just">
              <a:buNone/>
            </a:pPr>
            <a:endParaRPr lang="es-CO" dirty="0"/>
          </a:p>
          <a:p>
            <a:pPr lvl="0" algn="just">
              <a:buFontTx/>
              <a:buChar char="-"/>
            </a:pPr>
            <a:endParaRPr lang="es-CO" dirty="0"/>
          </a:p>
          <a:p>
            <a:pPr marL="0" lvl="0" indent="0" algn="just">
              <a:buNone/>
            </a:pPr>
            <a:endParaRPr lang="es-CO" dirty="0"/>
          </a:p>
        </p:txBody>
      </p:sp>
    </p:spTree>
    <p:extLst>
      <p:ext uri="{BB962C8B-B14F-4D97-AF65-F5344CB8AC3E}">
        <p14:creationId xmlns:p14="http://schemas.microsoft.com/office/powerpoint/2010/main" val="2121083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55766" y="1455057"/>
            <a:ext cx="10515600" cy="828539"/>
          </a:xfrm>
        </p:spPr>
        <p:txBody>
          <a:bodyPr/>
          <a:lstStyle/>
          <a:p>
            <a:pPr algn="ctr"/>
            <a:r>
              <a:rPr lang="es-ES" dirty="0"/>
              <a:t>Arquitectura por capas</a:t>
            </a:r>
            <a:endParaRPr lang="en-US" dirty="0"/>
          </a:p>
        </p:txBody>
      </p:sp>
      <p:sp>
        <p:nvSpPr>
          <p:cNvPr id="3" name="Marcador de contenido 2"/>
          <p:cNvSpPr>
            <a:spLocks noGrp="1"/>
          </p:cNvSpPr>
          <p:nvPr>
            <p:ph idx="1"/>
          </p:nvPr>
        </p:nvSpPr>
        <p:spPr>
          <a:xfrm>
            <a:off x="955766" y="2711723"/>
            <a:ext cx="10515600" cy="3092177"/>
          </a:xfrm>
        </p:spPr>
        <p:txBody>
          <a:bodyPr>
            <a:normAutofit/>
          </a:bodyPr>
          <a:lstStyle/>
          <a:p>
            <a:pPr lvl="0" algn="just">
              <a:buFontTx/>
              <a:buChar char="-"/>
            </a:pPr>
            <a:r>
              <a:rPr lang="es-CO" dirty="0"/>
              <a:t>La capa de datos es la encargada de la comunicación  con la base de datos, recibe las peticiones y devuelve información a la capa de reglas del negocio.</a:t>
            </a:r>
          </a:p>
          <a:p>
            <a:pPr marL="0" lvl="0" indent="0" algn="just">
              <a:buNone/>
            </a:pPr>
            <a:r>
              <a:rPr lang="es-CO" dirty="0"/>
              <a:t>- Una capa adicional, pero poco conocida, es la capa de entidades que se encarga del envió de datos entre las diferentes capas, optimizando el flujo de información entre ellas.</a:t>
            </a:r>
          </a:p>
          <a:p>
            <a:pPr lvl="0" algn="just">
              <a:buFontTx/>
              <a:buChar char="-"/>
            </a:pPr>
            <a:endParaRPr lang="es-CO" dirty="0"/>
          </a:p>
          <a:p>
            <a:pPr marL="0" lvl="0" indent="0" algn="just">
              <a:buNone/>
            </a:pPr>
            <a:endParaRPr lang="es-CO" dirty="0"/>
          </a:p>
        </p:txBody>
      </p:sp>
    </p:spTree>
    <p:extLst>
      <p:ext uri="{BB962C8B-B14F-4D97-AF65-F5344CB8AC3E}">
        <p14:creationId xmlns:p14="http://schemas.microsoft.com/office/powerpoint/2010/main" val="13672387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978078" y="555674"/>
            <a:ext cx="7755572" cy="668215"/>
          </a:xfrm>
        </p:spPr>
        <p:txBody>
          <a:bodyPr/>
          <a:lstStyle/>
          <a:p>
            <a:pPr algn="ctr"/>
            <a:r>
              <a:rPr lang="es-ES" b="1" dirty="0"/>
              <a:t>Arquitectura de capas gráficamente</a:t>
            </a:r>
            <a:endParaRPr lang="en-US" b="1" dirty="0"/>
          </a:p>
        </p:txBody>
      </p:sp>
      <p:pic>
        <p:nvPicPr>
          <p:cNvPr id="5" name="Marcador de posición de imagen 4"/>
          <p:cNvPicPr>
            <a:picLocks noGrp="1" noChangeAspect="1"/>
          </p:cNvPicPr>
          <p:nvPr>
            <p:ph type="pic" idx="1"/>
          </p:nvPr>
        </p:nvPicPr>
        <p:blipFill>
          <a:blip r:embed="rId2">
            <a:extLst>
              <a:ext uri="{28A0092B-C50C-407E-A947-70E740481C1C}">
                <a14:useLocalDpi xmlns:a14="http://schemas.microsoft.com/office/drawing/2010/main" val="0"/>
              </a:ext>
            </a:extLst>
          </a:blip>
          <a:stretch>
            <a:fillRect/>
          </a:stretch>
        </p:blipFill>
        <p:spPr>
          <a:xfrm>
            <a:off x="3488200" y="1691640"/>
            <a:ext cx="8267700" cy="4381500"/>
          </a:xfrm>
        </p:spPr>
      </p:pic>
      <p:sp>
        <p:nvSpPr>
          <p:cNvPr id="4" name="Marcador de texto 3"/>
          <p:cNvSpPr>
            <a:spLocks noGrp="1"/>
          </p:cNvSpPr>
          <p:nvPr>
            <p:ph type="body" sz="half" idx="2"/>
          </p:nvPr>
        </p:nvSpPr>
        <p:spPr>
          <a:xfrm>
            <a:off x="783518" y="2194561"/>
            <a:ext cx="2381714" cy="2940148"/>
          </a:xfrm>
        </p:spPr>
        <p:txBody>
          <a:bodyPr>
            <a:noAutofit/>
          </a:bodyPr>
          <a:lstStyle/>
          <a:p>
            <a:pPr marL="285750" indent="-285750">
              <a:buFont typeface="Arial" panose="020B0604020202020204" pitchFamily="34" charset="0"/>
              <a:buChar char="•"/>
            </a:pPr>
            <a:r>
              <a:rPr lang="es-ES" sz="2400" dirty="0"/>
              <a:t>Capa de Presentación</a:t>
            </a:r>
          </a:p>
          <a:p>
            <a:pPr marL="285750" indent="-285750">
              <a:buFont typeface="Arial" panose="020B0604020202020204" pitchFamily="34" charset="0"/>
              <a:buChar char="•"/>
            </a:pPr>
            <a:r>
              <a:rPr lang="es-ES" sz="2400" dirty="0"/>
              <a:t>Capa de Reglas del Negocio</a:t>
            </a:r>
          </a:p>
          <a:p>
            <a:pPr marL="285750" indent="-285750">
              <a:buFont typeface="Arial" panose="020B0604020202020204" pitchFamily="34" charset="0"/>
              <a:buChar char="•"/>
            </a:pPr>
            <a:r>
              <a:rPr lang="es-ES" sz="2400" dirty="0"/>
              <a:t>Capa de datos</a:t>
            </a:r>
          </a:p>
          <a:p>
            <a:pPr marL="285750" indent="-285750">
              <a:buFont typeface="Arial" panose="020B0604020202020204" pitchFamily="34" charset="0"/>
              <a:buChar char="•"/>
            </a:pPr>
            <a:r>
              <a:rPr lang="es-ES" sz="2400" dirty="0"/>
              <a:t>Capa de entidades</a:t>
            </a:r>
            <a:endParaRPr lang="en-US" sz="2400" dirty="0"/>
          </a:p>
        </p:txBody>
      </p:sp>
    </p:spTree>
    <p:extLst>
      <p:ext uri="{BB962C8B-B14F-4D97-AF65-F5344CB8AC3E}">
        <p14:creationId xmlns:p14="http://schemas.microsoft.com/office/powerpoint/2010/main" val="14048144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55766" y="1122770"/>
            <a:ext cx="10515600" cy="1325563"/>
          </a:xfrm>
        </p:spPr>
        <p:txBody>
          <a:bodyPr/>
          <a:lstStyle/>
          <a:p>
            <a:pPr algn="ctr"/>
            <a:r>
              <a:rPr lang="es-ES" dirty="0"/>
              <a:t>Modelo-Vista-Controlador</a:t>
            </a:r>
            <a:endParaRPr lang="en-US" dirty="0"/>
          </a:p>
        </p:txBody>
      </p:sp>
      <p:sp>
        <p:nvSpPr>
          <p:cNvPr id="3" name="Marcador de contenido 2"/>
          <p:cNvSpPr>
            <a:spLocks noGrp="1"/>
          </p:cNvSpPr>
          <p:nvPr>
            <p:ph idx="1"/>
          </p:nvPr>
        </p:nvSpPr>
        <p:spPr>
          <a:xfrm>
            <a:off x="955766" y="2448333"/>
            <a:ext cx="10515600" cy="3525202"/>
          </a:xfrm>
        </p:spPr>
        <p:txBody>
          <a:bodyPr>
            <a:normAutofit fontScale="92500" lnSpcReduction="10000"/>
          </a:bodyPr>
          <a:lstStyle/>
          <a:p>
            <a:pPr algn="just"/>
            <a:r>
              <a:rPr lang="es-CO" dirty="0"/>
              <a:t>El patrón MVC (Modelo, Vista, Controlador), es una arquitectura de software que divide la información de una aplicación  en tres componentes distintos:</a:t>
            </a:r>
          </a:p>
          <a:p>
            <a:pPr marL="0" indent="0" algn="just">
              <a:buNone/>
            </a:pPr>
            <a:r>
              <a:rPr lang="es-CO" dirty="0"/>
              <a:t>- </a:t>
            </a:r>
            <a:r>
              <a:rPr lang="es-CO" b="1" dirty="0"/>
              <a:t>Modelo:</a:t>
            </a:r>
            <a:r>
              <a:rPr lang="es-CO" dirty="0"/>
              <a:t> Esta toda la lógica del negocio, la representación de todo el       sistema incluido todo lo relacionado con la base de datos.</a:t>
            </a:r>
            <a:endParaRPr lang="en-US" dirty="0"/>
          </a:p>
          <a:p>
            <a:pPr algn="just">
              <a:buFontTx/>
              <a:buChar char="-"/>
            </a:pPr>
            <a:r>
              <a:rPr lang="es-CO" b="1" dirty="0"/>
              <a:t>Controlador:</a:t>
            </a:r>
            <a:r>
              <a:rPr lang="es-CO" dirty="0"/>
              <a:t> realiza las peticiones al modelo para pasar la información a la vista</a:t>
            </a:r>
          </a:p>
          <a:p>
            <a:pPr algn="just">
              <a:buFontTx/>
              <a:buChar char="-"/>
            </a:pPr>
            <a:r>
              <a:rPr lang="es-CO" b="1" dirty="0"/>
              <a:t>Vista:</a:t>
            </a:r>
            <a:r>
              <a:rPr lang="es-CO" dirty="0"/>
              <a:t> Representa la interfaz y herramientas de usuario para interactuar con el programa.</a:t>
            </a:r>
            <a:endParaRPr lang="en-US" dirty="0"/>
          </a:p>
          <a:p>
            <a:pPr algn="just">
              <a:buFontTx/>
              <a:buChar char="-"/>
            </a:pPr>
            <a:endParaRPr lang="en-US" dirty="0"/>
          </a:p>
        </p:txBody>
      </p:sp>
    </p:spTree>
    <p:extLst>
      <p:ext uri="{BB962C8B-B14F-4D97-AF65-F5344CB8AC3E}">
        <p14:creationId xmlns:p14="http://schemas.microsoft.com/office/powerpoint/2010/main" val="2001328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49278" y="752622"/>
            <a:ext cx="10161147" cy="724486"/>
          </a:xfrm>
        </p:spPr>
        <p:txBody>
          <a:bodyPr>
            <a:normAutofit/>
          </a:bodyPr>
          <a:lstStyle/>
          <a:p>
            <a:pPr algn="ctr"/>
            <a:r>
              <a:rPr lang="es-ES" sz="3600" b="1" dirty="0"/>
              <a:t>Arquitectura Modelo-Vista-Controlador gráficamente</a:t>
            </a:r>
            <a:endParaRPr lang="en-US" sz="3600" b="1" dirty="0"/>
          </a:p>
        </p:txBody>
      </p:sp>
      <p:pic>
        <p:nvPicPr>
          <p:cNvPr id="5" name="Marcador de posición de imagen 4"/>
          <p:cNvPicPr>
            <a:picLocks noGrp="1" noChangeAspect="1"/>
          </p:cNvPicPr>
          <p:nvPr>
            <p:ph type="pic" idx="1"/>
          </p:nvPr>
        </p:nvPicPr>
        <p:blipFill>
          <a:blip r:embed="rId2">
            <a:extLst>
              <a:ext uri="{28A0092B-C50C-407E-A947-70E740481C1C}">
                <a14:useLocalDpi xmlns:a14="http://schemas.microsoft.com/office/drawing/2010/main" val="0"/>
              </a:ext>
            </a:extLst>
          </a:blip>
          <a:stretch>
            <a:fillRect/>
          </a:stretch>
        </p:blipFill>
        <p:spPr>
          <a:xfrm>
            <a:off x="3502856" y="1845555"/>
            <a:ext cx="7598336" cy="4048125"/>
          </a:xfrm>
        </p:spPr>
      </p:pic>
      <p:sp>
        <p:nvSpPr>
          <p:cNvPr id="4" name="Marcador de texto 3"/>
          <p:cNvSpPr>
            <a:spLocks noGrp="1"/>
          </p:cNvSpPr>
          <p:nvPr>
            <p:ph type="body" sz="half" idx="2"/>
          </p:nvPr>
        </p:nvSpPr>
        <p:spPr>
          <a:xfrm>
            <a:off x="1149278" y="2957732"/>
            <a:ext cx="2100359" cy="1543929"/>
          </a:xfrm>
        </p:spPr>
        <p:txBody>
          <a:bodyPr>
            <a:noAutofit/>
          </a:bodyPr>
          <a:lstStyle/>
          <a:p>
            <a:pPr marL="285750" indent="-285750">
              <a:buFont typeface="Arial" panose="020B0604020202020204" pitchFamily="34" charset="0"/>
              <a:buChar char="•"/>
            </a:pPr>
            <a:r>
              <a:rPr lang="es-ES" sz="2800" b="1" dirty="0"/>
              <a:t>Modelo</a:t>
            </a:r>
          </a:p>
          <a:p>
            <a:pPr marL="285750" indent="-285750">
              <a:buFont typeface="Arial" panose="020B0604020202020204" pitchFamily="34" charset="0"/>
              <a:buChar char="•"/>
            </a:pPr>
            <a:r>
              <a:rPr lang="es-ES" sz="2800" b="1" dirty="0"/>
              <a:t>Vista</a:t>
            </a:r>
          </a:p>
          <a:p>
            <a:pPr marL="285750" indent="-285750">
              <a:buFont typeface="Arial" panose="020B0604020202020204" pitchFamily="34" charset="0"/>
              <a:buChar char="•"/>
            </a:pPr>
            <a:r>
              <a:rPr lang="es-ES" sz="2400" b="1" dirty="0"/>
              <a:t>Controlador</a:t>
            </a:r>
            <a:endParaRPr lang="en-US" sz="2400" b="1" dirty="0"/>
          </a:p>
        </p:txBody>
      </p:sp>
    </p:spTree>
    <p:extLst>
      <p:ext uri="{BB962C8B-B14F-4D97-AF65-F5344CB8AC3E}">
        <p14:creationId xmlns:p14="http://schemas.microsoft.com/office/powerpoint/2010/main" val="42412761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p:cNvSpPr>
            <a:spLocks noGrp="1"/>
          </p:cNvSpPr>
          <p:nvPr>
            <p:ph type="title"/>
          </p:nvPr>
        </p:nvSpPr>
        <p:spPr>
          <a:xfrm>
            <a:off x="838200" y="874577"/>
            <a:ext cx="10515600" cy="915034"/>
          </a:xfrm>
        </p:spPr>
        <p:txBody>
          <a:bodyPr/>
          <a:lstStyle/>
          <a:p>
            <a:pPr algn="ctr"/>
            <a:r>
              <a:rPr lang="es-ES" b="1" dirty="0"/>
              <a:t>Arquitectura Hexagonal</a:t>
            </a:r>
            <a:endParaRPr lang="en-US" b="1" dirty="0"/>
          </a:p>
        </p:txBody>
      </p:sp>
      <p:sp>
        <p:nvSpPr>
          <p:cNvPr id="6" name="Marcador de contenido 5"/>
          <p:cNvSpPr>
            <a:spLocks noGrp="1"/>
          </p:cNvSpPr>
          <p:nvPr>
            <p:ph idx="1"/>
          </p:nvPr>
        </p:nvSpPr>
        <p:spPr>
          <a:xfrm>
            <a:off x="838200" y="2204447"/>
            <a:ext cx="10515600" cy="4117976"/>
          </a:xfrm>
        </p:spPr>
        <p:txBody>
          <a:bodyPr>
            <a:normAutofit lnSpcReduction="10000"/>
          </a:bodyPr>
          <a:lstStyle/>
          <a:p>
            <a:pPr algn="just"/>
            <a:r>
              <a:rPr lang="es-ES" dirty="0"/>
              <a:t>También conocido como patrón de puertos y adaptadores.</a:t>
            </a:r>
            <a:r>
              <a:rPr lang="es-CO" dirty="0"/>
              <a:t> </a:t>
            </a:r>
          </a:p>
          <a:p>
            <a:pPr algn="just"/>
            <a:r>
              <a:rPr lang="es-CO" dirty="0"/>
              <a:t>Diseña el sistema y aplicaciones a través de propósitos y no por tecnología. </a:t>
            </a:r>
          </a:p>
          <a:p>
            <a:pPr algn="just"/>
            <a:r>
              <a:rPr lang="es-CO" dirty="0"/>
              <a:t>Sus componentes de aplicaciones se pueden intercambiar fácilmente, como bases de datos, experiencia de usuario y componentes de servicio.</a:t>
            </a:r>
          </a:p>
          <a:p>
            <a:pPr algn="just"/>
            <a:r>
              <a:rPr lang="es-ES" dirty="0"/>
              <a:t>Su objetivo es crear arquitecturas de acoplamiento flexible en las que los componentes de las aplicaciones puedan probarse de forma independiente, sin depender de los almacenes de datos ni de las interfaces de usuario.</a:t>
            </a:r>
            <a:endParaRPr lang="es-CO" dirty="0"/>
          </a:p>
          <a:p>
            <a:pPr algn="just"/>
            <a:endParaRPr lang="es-CO" dirty="0"/>
          </a:p>
          <a:p>
            <a:pPr algn="just"/>
            <a:endParaRPr lang="en-US" dirty="0"/>
          </a:p>
          <a:p>
            <a:endParaRPr lang="en-US" dirty="0"/>
          </a:p>
        </p:txBody>
      </p:sp>
    </p:spTree>
    <p:extLst>
      <p:ext uri="{BB962C8B-B14F-4D97-AF65-F5344CB8AC3E}">
        <p14:creationId xmlns:p14="http://schemas.microsoft.com/office/powerpoint/2010/main" val="14048014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21080" y="874575"/>
            <a:ext cx="10515600" cy="836659"/>
          </a:xfrm>
        </p:spPr>
        <p:txBody>
          <a:bodyPr>
            <a:normAutofit/>
          </a:bodyPr>
          <a:lstStyle/>
          <a:p>
            <a:pPr algn="ctr"/>
            <a:r>
              <a:rPr lang="es-CO" sz="4900" b="1" dirty="0"/>
              <a:t>Arquitectura hexagonal</a:t>
            </a:r>
            <a:endParaRPr lang="en-US" dirty="0"/>
          </a:p>
        </p:txBody>
      </p:sp>
      <p:sp>
        <p:nvSpPr>
          <p:cNvPr id="3" name="Marcador de contenido 2"/>
          <p:cNvSpPr>
            <a:spLocks noGrp="1"/>
          </p:cNvSpPr>
          <p:nvPr>
            <p:ph idx="1"/>
          </p:nvPr>
        </p:nvSpPr>
        <p:spPr>
          <a:xfrm>
            <a:off x="851263" y="1995442"/>
            <a:ext cx="10515600" cy="4183289"/>
          </a:xfrm>
        </p:spPr>
        <p:txBody>
          <a:bodyPr>
            <a:normAutofit lnSpcReduction="10000"/>
          </a:bodyPr>
          <a:lstStyle/>
          <a:p>
            <a:pPr marL="0" indent="0">
              <a:buNone/>
            </a:pPr>
            <a:r>
              <a:rPr lang="es-CO" dirty="0"/>
              <a:t>El patrón de arquitectura hexagonal se usa cuando:</a:t>
            </a:r>
            <a:endParaRPr lang="en-US" dirty="0"/>
          </a:p>
          <a:p>
            <a:pPr lvl="0" algn="just"/>
            <a:r>
              <a:rPr lang="es-CO" dirty="0"/>
              <a:t>Desea desacoplar la arquitectura de su aplicación para crear componentes que puedan probarse por completo.</a:t>
            </a:r>
            <a:endParaRPr lang="en-US" dirty="0"/>
          </a:p>
          <a:p>
            <a:pPr lvl="0" algn="just"/>
            <a:r>
              <a:rPr lang="es-CO" dirty="0"/>
              <a:t>Varios tipos de clientes pueden usar la misma lógica de dominio.</a:t>
            </a:r>
            <a:endParaRPr lang="en-US" dirty="0"/>
          </a:p>
          <a:p>
            <a:pPr lvl="0" algn="just"/>
            <a:r>
              <a:rPr lang="es-CO" dirty="0"/>
              <a:t>Los componentes de la interfaz de usuario y la base de datos requieren actualizaciones tecnológicas periódicas que no afectan a la lógica de la aplicación.</a:t>
            </a:r>
            <a:endParaRPr lang="en-US" dirty="0"/>
          </a:p>
          <a:p>
            <a:pPr lvl="0" algn="just"/>
            <a:r>
              <a:rPr lang="es-CO" dirty="0"/>
              <a:t>Su aplicación requiere varios proveedores de entradas y consumidores de salida, y la personalización de la lógica de la aplicación genera complejidad y falta de extensibilidad del código</a:t>
            </a:r>
            <a:endParaRPr lang="en-US" dirty="0"/>
          </a:p>
        </p:txBody>
      </p:sp>
    </p:spTree>
    <p:extLst>
      <p:ext uri="{BB962C8B-B14F-4D97-AF65-F5344CB8AC3E}">
        <p14:creationId xmlns:p14="http://schemas.microsoft.com/office/powerpoint/2010/main" val="9244876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603274" y="591095"/>
            <a:ext cx="7233057" cy="666205"/>
          </a:xfrm>
        </p:spPr>
        <p:txBody>
          <a:bodyPr>
            <a:noAutofit/>
          </a:bodyPr>
          <a:lstStyle/>
          <a:p>
            <a:pPr algn="ctr"/>
            <a:r>
              <a:rPr lang="es-ES" sz="4400" dirty="0"/>
              <a:t>Patrón Hexagonal</a:t>
            </a:r>
            <a:endParaRPr lang="en-US" sz="4400" dirty="0"/>
          </a:p>
        </p:txBody>
      </p:sp>
      <p:pic>
        <p:nvPicPr>
          <p:cNvPr id="5" name="Marcador de posición de imagen 4"/>
          <p:cNvPicPr>
            <a:picLocks noGrp="1" noChangeAspect="1"/>
          </p:cNvPicPr>
          <p:nvPr>
            <p:ph type="pic" idx="1"/>
          </p:nvPr>
        </p:nvPicPr>
        <p:blipFill>
          <a:blip r:embed="rId2">
            <a:extLst>
              <a:ext uri="{28A0092B-C50C-407E-A947-70E740481C1C}">
                <a14:useLocalDpi xmlns:a14="http://schemas.microsoft.com/office/drawing/2010/main" val="0"/>
              </a:ext>
            </a:extLst>
          </a:blip>
          <a:srcRect l="11449" r="11449"/>
          <a:stretch>
            <a:fillRect/>
          </a:stretch>
        </p:blipFill>
        <p:spPr>
          <a:xfrm>
            <a:off x="3971109" y="1257300"/>
            <a:ext cx="7449593" cy="4842147"/>
          </a:xfrm>
        </p:spPr>
      </p:pic>
      <p:sp>
        <p:nvSpPr>
          <p:cNvPr id="4" name="Marcador de texto 3"/>
          <p:cNvSpPr>
            <a:spLocks noGrp="1"/>
          </p:cNvSpPr>
          <p:nvPr>
            <p:ph type="body" sz="half" idx="2"/>
          </p:nvPr>
        </p:nvSpPr>
        <p:spPr>
          <a:xfrm>
            <a:off x="865914" y="2671355"/>
            <a:ext cx="2726372" cy="1391194"/>
          </a:xfrm>
        </p:spPr>
        <p:txBody>
          <a:bodyPr>
            <a:noAutofit/>
          </a:bodyPr>
          <a:lstStyle/>
          <a:p>
            <a:pPr marL="285750" indent="-285750">
              <a:buFont typeface="Arial" panose="020B0604020202020204" pitchFamily="34" charset="0"/>
              <a:buChar char="•"/>
            </a:pPr>
            <a:r>
              <a:rPr lang="es-ES" sz="2400" dirty="0"/>
              <a:t>Patrón Hexagonal</a:t>
            </a:r>
          </a:p>
          <a:p>
            <a:pPr marL="285750" indent="-285750">
              <a:buFont typeface="Arial" panose="020B0604020202020204" pitchFamily="34" charset="0"/>
              <a:buChar char="•"/>
            </a:pPr>
            <a:r>
              <a:rPr lang="es-ES" sz="2400" dirty="0"/>
              <a:t>patrón de puertos y adaptadores</a:t>
            </a:r>
            <a:endParaRPr lang="en-US" sz="2400" dirty="0"/>
          </a:p>
        </p:txBody>
      </p:sp>
    </p:spTree>
    <p:extLst>
      <p:ext uri="{BB962C8B-B14F-4D97-AF65-F5344CB8AC3E}">
        <p14:creationId xmlns:p14="http://schemas.microsoft.com/office/powerpoint/2010/main" val="38340469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1084218"/>
            <a:ext cx="10515600" cy="841602"/>
          </a:xfrm>
        </p:spPr>
        <p:txBody>
          <a:bodyPr/>
          <a:lstStyle/>
          <a:p>
            <a:pPr algn="ctr"/>
            <a:r>
              <a:rPr lang="es-ES" dirty="0">
                <a:solidFill>
                  <a:srgbClr val="FF0000"/>
                </a:solidFill>
              </a:rPr>
              <a:t>Bibliografía</a:t>
            </a:r>
            <a:endParaRPr lang="en-US" dirty="0">
              <a:solidFill>
                <a:srgbClr val="FF0000"/>
              </a:solidFill>
            </a:endParaRPr>
          </a:p>
        </p:txBody>
      </p:sp>
      <p:sp>
        <p:nvSpPr>
          <p:cNvPr id="3" name="Marcador de contenido 2"/>
          <p:cNvSpPr>
            <a:spLocks noGrp="1"/>
          </p:cNvSpPr>
          <p:nvPr>
            <p:ph idx="1"/>
          </p:nvPr>
        </p:nvSpPr>
        <p:spPr>
          <a:xfrm>
            <a:off x="838200" y="1925820"/>
            <a:ext cx="10515600" cy="4357413"/>
          </a:xfrm>
        </p:spPr>
        <p:txBody>
          <a:bodyPr>
            <a:normAutofit fontScale="92500"/>
          </a:bodyPr>
          <a:lstStyle/>
          <a:p>
            <a:r>
              <a:rPr lang="en-US" dirty="0">
                <a:hlinkClick r:id="rId2"/>
              </a:rPr>
              <a:t>https://code.google.com/archive/p/gestion-matricula/wikis/MVC.wiki</a:t>
            </a:r>
            <a:endParaRPr lang="en-US" dirty="0"/>
          </a:p>
          <a:p>
            <a:r>
              <a:rPr lang="en-US" dirty="0">
                <a:hlinkClick r:id="rId3"/>
              </a:rPr>
              <a:t>https://codigofacilito.com/articulos/mvc-model-view-controller-explicado</a:t>
            </a:r>
            <a:endParaRPr lang="en-US" dirty="0"/>
          </a:p>
          <a:p>
            <a:r>
              <a:rPr lang="en-US" dirty="0">
                <a:hlinkClick r:id="rId4"/>
              </a:rPr>
              <a:t>https://platzi.com/tutoriales/1248-pro-arquitectura/5439-patron-arquitectonico-de-capas-layers/</a:t>
            </a:r>
            <a:endParaRPr lang="en-US" dirty="0"/>
          </a:p>
          <a:p>
            <a:r>
              <a:rPr lang="en-US" dirty="0">
                <a:hlinkClick r:id="rId5"/>
              </a:rPr>
              <a:t>https://reactiveprogramming.io/blog/es/estilos-arquitectonicos/capas</a:t>
            </a:r>
            <a:endParaRPr lang="en-US" dirty="0"/>
          </a:p>
          <a:p>
            <a:r>
              <a:rPr lang="en-US" dirty="0"/>
              <a:t>https://docs.aws.amazon.com/es_es/prescriptive-guidance/latest/cloud-design-patterns/hexagonal-architecture.html#:~:text=El%20patr%C3%B3n%20de%20arquitectura%20hexagonal%20le%20permite%20dise%C3%B1ar%20sus%20sistemas,usuario%20y%20componentes%20de%20servicio.</a:t>
            </a:r>
          </a:p>
        </p:txBody>
      </p:sp>
    </p:spTree>
    <p:extLst>
      <p:ext uri="{BB962C8B-B14F-4D97-AF65-F5344CB8AC3E}">
        <p14:creationId xmlns:p14="http://schemas.microsoft.com/office/powerpoint/2010/main" val="2447703803"/>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134</TotalTime>
  <Words>593</Words>
  <Application>Microsoft Office PowerPoint</Application>
  <PresentationFormat>Panorámica</PresentationFormat>
  <Paragraphs>46</Paragraphs>
  <Slides>10</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10</vt:i4>
      </vt:variant>
    </vt:vector>
  </HeadingPairs>
  <TitlesOfParts>
    <vt:vector size="14" baseType="lpstr">
      <vt:lpstr>Arial</vt:lpstr>
      <vt:lpstr>Calibri</vt:lpstr>
      <vt:lpstr>Calibri Light</vt:lpstr>
      <vt:lpstr>Tema de Office</vt:lpstr>
      <vt:lpstr>Patrones de Diseño</vt:lpstr>
      <vt:lpstr>Arquitectura por capas</vt:lpstr>
      <vt:lpstr>Arquitectura por capas</vt:lpstr>
      <vt:lpstr>Arquitectura de capas gráficamente</vt:lpstr>
      <vt:lpstr>Modelo-Vista-Controlador</vt:lpstr>
      <vt:lpstr>Arquitectura Modelo-Vista-Controlador gráficamente</vt:lpstr>
      <vt:lpstr>Arquitectura Hexagonal</vt:lpstr>
      <vt:lpstr>Arquitectura hexagonal</vt:lpstr>
      <vt:lpstr>Patrón Hexagonal</vt:lpstr>
      <vt:lpstr>Bibliografía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Patrones de Diseño</dc:title>
  <dc:creator>FreddyMC</dc:creator>
  <cp:lastModifiedBy>desarrollo</cp:lastModifiedBy>
  <cp:revision>25</cp:revision>
  <dcterms:created xsi:type="dcterms:W3CDTF">2025-03-07T11:58:32Z</dcterms:created>
  <dcterms:modified xsi:type="dcterms:W3CDTF">2025-03-14T00:11:24Z</dcterms:modified>
</cp:coreProperties>
</file>