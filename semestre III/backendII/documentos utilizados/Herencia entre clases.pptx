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4" r:id="rId4"/>
    <p:sldId id="265" r:id="rId5"/>
    <p:sldId id="266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jarroba.com/herencia-en-la-programacion-orientada-a-objetos-ejemplo-en-jav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928401" y="2129245"/>
            <a:ext cx="8574622" cy="927463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/>
              <a:t>Herencia entre clases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97812" y="3421502"/>
            <a:ext cx="6987645" cy="784739"/>
          </a:xfrm>
        </p:spPr>
        <p:txBody>
          <a:bodyPr>
            <a:normAutofit/>
          </a:bodyPr>
          <a:lstStyle/>
          <a:p>
            <a:pPr algn="l"/>
            <a:r>
              <a:rPr lang="es-ES" sz="2800" dirty="0"/>
              <a:t>							Por: Freddy Moscoso C</a:t>
            </a:r>
          </a:p>
        </p:txBody>
      </p:sp>
    </p:spTree>
    <p:extLst>
      <p:ext uri="{BB962C8B-B14F-4D97-AF65-F5344CB8AC3E}">
        <p14:creationId xmlns:p14="http://schemas.microsoft.com/office/powerpoint/2010/main" val="1686972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84311" y="453981"/>
            <a:ext cx="10018713" cy="1184564"/>
          </a:xfrm>
        </p:spPr>
        <p:txBody>
          <a:bodyPr>
            <a:normAutofit fontScale="90000"/>
          </a:bodyPr>
          <a:lstStyle/>
          <a:p>
            <a:r>
              <a:rPr lang="es-ES" dirty="0"/>
              <a:t>Los cuatro pilares de la Programación Orientada a Objetos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84311" y="1880315"/>
            <a:ext cx="10018713" cy="34121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ES" i="1" dirty="0">
              <a:latin typeface="+mj-lt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ES" i="1" dirty="0">
                <a:latin typeface="+mj-lt"/>
                <a:cs typeface="Arial" panose="020B0604020202020204" pitchFamily="34" charset="0"/>
              </a:rPr>
              <a:t>Los cuatro pilares de la programación orientada a objetos son:</a:t>
            </a:r>
          </a:p>
          <a:p>
            <a:pPr algn="just"/>
            <a:r>
              <a:rPr lang="es-ES" dirty="0">
                <a:cs typeface="Arial" panose="020B0604020202020204" pitchFamily="34" charset="0"/>
              </a:rPr>
              <a:t>La herencia</a:t>
            </a:r>
            <a:r>
              <a:rPr lang="es-ES" i="1" dirty="0">
                <a:cs typeface="Arial" panose="020B0604020202020204" pitchFamily="34" charset="0"/>
              </a:rPr>
              <a:t>.</a:t>
            </a:r>
            <a:endParaRPr lang="es-ES" i="1" dirty="0">
              <a:latin typeface="+mj-lt"/>
              <a:cs typeface="Arial" panose="020B0604020202020204" pitchFamily="34" charset="0"/>
            </a:endParaRPr>
          </a:p>
          <a:p>
            <a:pPr algn="just"/>
            <a:r>
              <a:rPr lang="es-ES" i="1" dirty="0">
                <a:latin typeface="+mj-lt"/>
                <a:cs typeface="Arial" panose="020B0604020202020204" pitchFamily="34" charset="0"/>
              </a:rPr>
              <a:t>El Polimorfismo</a:t>
            </a:r>
          </a:p>
          <a:p>
            <a:pPr algn="just"/>
            <a:r>
              <a:rPr lang="es-ES" i="1" dirty="0">
                <a:latin typeface="+mj-lt"/>
                <a:cs typeface="Arial" panose="020B0604020202020204" pitchFamily="34" charset="0"/>
              </a:rPr>
              <a:t>L</a:t>
            </a:r>
            <a:r>
              <a:rPr lang="es-ES" dirty="0">
                <a:latin typeface="+mj-lt"/>
                <a:cs typeface="Arial" panose="020B0604020202020204" pitchFamily="34" charset="0"/>
              </a:rPr>
              <a:t>a </a:t>
            </a:r>
            <a:r>
              <a:rPr lang="es-ES" i="1" dirty="0">
                <a:latin typeface="+mj-lt"/>
                <a:cs typeface="Arial" panose="020B0604020202020204" pitchFamily="34" charset="0"/>
              </a:rPr>
              <a:t>Abstracción</a:t>
            </a:r>
          </a:p>
          <a:p>
            <a:pPr algn="just"/>
            <a:r>
              <a:rPr lang="es-ES" dirty="0">
                <a:latin typeface="+mj-lt"/>
                <a:cs typeface="Arial" panose="020B0604020202020204" pitchFamily="34" charset="0"/>
              </a:rPr>
              <a:t>La </a:t>
            </a:r>
            <a:r>
              <a:rPr lang="es-ES" i="1" dirty="0">
                <a:latin typeface="+mj-lt"/>
                <a:cs typeface="Arial" panose="020B0604020202020204" pitchFamily="34" charset="0"/>
              </a:rPr>
              <a:t>Encapsulación</a:t>
            </a:r>
            <a:r>
              <a:rPr lang="es-ES" b="1" dirty="0">
                <a:latin typeface="+mj-lt"/>
                <a:cs typeface="Arial" panose="020B0604020202020204" pitchFamily="34" charset="0"/>
              </a:rPr>
              <a:t> </a:t>
            </a:r>
          </a:p>
          <a:p>
            <a:pPr marL="0" indent="0" algn="just">
              <a:buNone/>
            </a:pPr>
            <a:endParaRPr lang="es-ES" i="1" dirty="0">
              <a:latin typeface="+mj-lt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400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/>
          <a:lstStyle/>
          <a:p>
            <a:r>
              <a:rPr lang="es-ES" dirty="0"/>
              <a:t>Herencia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84311" y="1701149"/>
            <a:ext cx="10018713" cy="4116946"/>
          </a:xfrm>
        </p:spPr>
        <p:txBody>
          <a:bodyPr/>
          <a:lstStyle/>
          <a:p>
            <a:pPr algn="just"/>
            <a:r>
              <a:rPr lang="es-ES" i="1" dirty="0">
                <a:cs typeface="Arial" panose="020B0604020202020204" pitchFamily="34" charset="0"/>
              </a:rPr>
              <a:t>La herencia </a:t>
            </a:r>
            <a:r>
              <a:rPr lang="es-CO" dirty="0"/>
              <a:t>hace referencia a la capacidad que tiene un objeto de recibir las propiedades y acciones de la clase de la cual deriva.</a:t>
            </a:r>
          </a:p>
          <a:p>
            <a:pPr algn="just"/>
            <a:r>
              <a:rPr lang="es-CO" dirty="0"/>
              <a:t>Un concepto que se debe definir para entender la herencia es:</a:t>
            </a:r>
          </a:p>
          <a:p>
            <a:pPr marL="0" indent="0" algn="just">
              <a:buNone/>
            </a:pPr>
            <a:r>
              <a:rPr lang="es-ES" b="1" i="1" u="sng" dirty="0" err="1"/>
              <a:t>extends</a:t>
            </a:r>
            <a:r>
              <a:rPr lang="es-ES" dirty="0"/>
              <a:t>: Indica cual es la clase padre de la clase que se que se esta creando</a:t>
            </a:r>
          </a:p>
          <a:p>
            <a:pPr marL="0" indent="0" algn="just">
              <a:buNone/>
            </a:pPr>
            <a:r>
              <a:rPr lang="es-ES" dirty="0"/>
              <a:t>Ejemplo: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ClsCirculo</a:t>
            </a:r>
            <a:r>
              <a:rPr lang="es-ES" dirty="0"/>
              <a:t> </a:t>
            </a:r>
            <a:r>
              <a:rPr lang="es-ES" dirty="0" err="1"/>
              <a:t>extends</a:t>
            </a:r>
            <a:r>
              <a:rPr lang="es-ES" dirty="0"/>
              <a:t> </a:t>
            </a:r>
            <a:r>
              <a:rPr lang="es-ES" dirty="0" err="1"/>
              <a:t>ClsFiguras</a:t>
            </a:r>
            <a:r>
              <a:rPr lang="es-ES" dirty="0"/>
              <a:t> (en este caso la clase  </a:t>
            </a:r>
            <a:r>
              <a:rPr lang="es-ES" dirty="0" err="1"/>
              <a:t>ClsCirculo</a:t>
            </a:r>
            <a:r>
              <a:rPr lang="es-ES" dirty="0"/>
              <a:t> “hereda” de la clase </a:t>
            </a:r>
            <a:r>
              <a:rPr lang="es-ES" dirty="0" err="1"/>
              <a:t>ClsFiguras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471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D7B15-7B63-478E-93E1-FE44F0D71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0" y="783720"/>
            <a:ext cx="8574622" cy="965567"/>
          </a:xfrm>
        </p:spPr>
        <p:txBody>
          <a:bodyPr>
            <a:normAutofit fontScale="90000"/>
          </a:bodyPr>
          <a:lstStyle/>
          <a:p>
            <a:pPr algn="ctr"/>
            <a:r>
              <a:rPr lang="es-CO" dirty="0"/>
              <a:t>Superclases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96DBC3-DB15-4012-A787-E9885C5CA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0349" y="2040466"/>
            <a:ext cx="8362256" cy="4033814"/>
          </a:xfrm>
        </p:spPr>
        <p:txBody>
          <a:bodyPr>
            <a:normAutofit/>
          </a:bodyPr>
          <a:lstStyle/>
          <a:p>
            <a:pPr algn="just"/>
            <a:r>
              <a:rPr lang="es-MX" sz="2400" dirty="0"/>
              <a:t>Es una clase de la que otras clases (llamadas subclases o clases derivadas) heredan sus propiedades y comportamientos (atributos y métodos)</a:t>
            </a:r>
          </a:p>
          <a:p>
            <a:pPr algn="just"/>
            <a:r>
              <a:rPr lang="es-MX" sz="2400" dirty="0"/>
              <a:t>Gráficamente</a:t>
            </a:r>
          </a:p>
          <a:p>
            <a:pPr algn="just"/>
            <a:endParaRPr lang="es-MX" sz="3100" dirty="0"/>
          </a:p>
          <a:p>
            <a:pPr algn="just"/>
            <a:endParaRPr lang="es-MX" dirty="0"/>
          </a:p>
          <a:p>
            <a:pPr algn="just"/>
            <a:endParaRPr lang="es-CO" dirty="0"/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E7D336B2-39C4-4FB5-9BD9-769ADB53F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336735"/>
              </p:ext>
            </p:extLst>
          </p:nvPr>
        </p:nvGraphicFramePr>
        <p:xfrm>
          <a:off x="3167171" y="3730853"/>
          <a:ext cx="7315434" cy="2343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Worksheet" r:id="rId3" imgW="4790966" imgH="1571507" progId="Excel.Sheet.12">
                  <p:embed/>
                </p:oleObj>
              </mc:Choice>
              <mc:Fallback>
                <p:oleObj name="Worksheet" r:id="rId3" imgW="4790966" imgH="157150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67171" y="3730853"/>
                        <a:ext cx="7315434" cy="23434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1104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8BF6F-4826-4519-9B81-16FFD3637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805071"/>
            <a:ext cx="10018713" cy="824948"/>
          </a:xfrm>
        </p:spPr>
        <p:txBody>
          <a:bodyPr/>
          <a:lstStyle/>
          <a:p>
            <a:r>
              <a:rPr lang="es-CO" dirty="0"/>
              <a:t>Características de las superclases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280094-BB37-45C2-B518-CABA8017B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61321"/>
            <a:ext cx="10018713" cy="3882887"/>
          </a:xfrm>
        </p:spPr>
        <p:txBody>
          <a:bodyPr>
            <a:normAutofit/>
          </a:bodyPr>
          <a:lstStyle/>
          <a:p>
            <a:pPr algn="just"/>
            <a:r>
              <a:rPr lang="es-MX" sz="2600" b="1" dirty="0"/>
              <a:t>Reutilización de código:</a:t>
            </a:r>
            <a:endParaRPr lang="es-MX" sz="2600" dirty="0"/>
          </a:p>
          <a:p>
            <a:pPr algn="just" fontAlgn="ctr"/>
            <a:r>
              <a:rPr lang="es-MX" sz="2600" dirty="0"/>
              <a:t>Al definir métodos y atributos comunes en la superclase, las subclases no necesitan definirlos localmente, lo que evita código redundante.</a:t>
            </a:r>
          </a:p>
          <a:p>
            <a:pPr algn="just"/>
            <a:r>
              <a:rPr lang="es-MX" sz="2600" b="1" dirty="0"/>
              <a:t>Organización y jerarquía:</a:t>
            </a:r>
            <a:endParaRPr lang="es-MX" sz="2600" dirty="0"/>
          </a:p>
          <a:p>
            <a:pPr algn="just"/>
            <a:r>
              <a:rPr lang="es-MX" sz="2600" dirty="0"/>
              <a:t>Las clases y subclases derivadas de estas crean una estructura jerárquica donde las subclases se especializan a partir de una clase global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82389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84310" y="2667000"/>
            <a:ext cx="10246136" cy="2231572"/>
          </a:xfrm>
        </p:spPr>
        <p:txBody>
          <a:bodyPr>
            <a:normAutofit/>
          </a:bodyPr>
          <a:lstStyle/>
          <a:p>
            <a:r>
              <a:rPr lang="es-ES" dirty="0">
                <a:hlinkClick r:id="rId2"/>
              </a:rPr>
              <a:t>https://jarroba.com/</a:t>
            </a:r>
            <a:r>
              <a:rPr lang="es-ES">
                <a:hlinkClick r:id="rId2"/>
              </a:rPr>
              <a:t>herencia-en-la-programacion-orientada-a-objetos-ejemplo-en-java/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74278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832</TotalTime>
  <Words>214</Words>
  <Application>Microsoft Office PowerPoint</Application>
  <PresentationFormat>Panorámica</PresentationFormat>
  <Paragraphs>25</Paragraphs>
  <Slides>6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Corbel</vt:lpstr>
      <vt:lpstr>Parallax</vt:lpstr>
      <vt:lpstr>Worksheet</vt:lpstr>
      <vt:lpstr>Herencia entre clases</vt:lpstr>
      <vt:lpstr>Los cuatro pilares de la Programación Orientada a Objetos</vt:lpstr>
      <vt:lpstr>Herencia</vt:lpstr>
      <vt:lpstr>Superclases</vt:lpstr>
      <vt:lpstr>Características de las superclases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SOBRECARGA DE METODOS Y POLIMORFISMO</dc:title>
  <dc:creator>Freddy_M</dc:creator>
  <cp:lastModifiedBy>Usuario</cp:lastModifiedBy>
  <cp:revision>40</cp:revision>
  <dcterms:created xsi:type="dcterms:W3CDTF">2017-08-21T19:31:00Z</dcterms:created>
  <dcterms:modified xsi:type="dcterms:W3CDTF">2026-07-30T18:17:13Z</dcterms:modified>
</cp:coreProperties>
</file>