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2" r:id="rId6"/>
    <p:sldId id="259" r:id="rId7"/>
    <p:sldId id="260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2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75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6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83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25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2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8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4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5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6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995B7-DF67-4B7C-AEFE-13F8BB28B87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1852A-43FE-4D6C-9DF5-AE74D357E2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7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correo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Conceptos </a:t>
            </a:r>
            <a:r>
              <a:rPr lang="es-ES"/>
              <a:t>de Apis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s-ES" dirty="0"/>
              <a:t>Por: Freddy Moscoso Ceballos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04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224098"/>
            <a:ext cx="10515600" cy="823595"/>
          </a:xfrm>
        </p:spPr>
        <p:txBody>
          <a:bodyPr/>
          <a:lstStyle/>
          <a:p>
            <a:pPr algn="ctr"/>
            <a:r>
              <a:rPr lang="es-ES" b="1" dirty="0"/>
              <a:t>Protocolos</a:t>
            </a:r>
            <a:endParaRPr lang="en-U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047693"/>
            <a:ext cx="10515600" cy="3961221"/>
          </a:xfrm>
        </p:spPr>
        <p:txBody>
          <a:bodyPr>
            <a:normAutofit fontScale="92500" lnSpcReduction="20000"/>
          </a:bodyPr>
          <a:lstStyle/>
          <a:p>
            <a:endParaRPr lang="es-ES" dirty="0"/>
          </a:p>
          <a:p>
            <a:pPr algn="just"/>
            <a:r>
              <a:rPr lang="es-CO" dirty="0"/>
              <a:t>Un protocolo es un conjunto de reglas que permiten a los dispositivos intercambiar información. Es el idioma que deben utilizar para comunicarse dos o mas computadores. </a:t>
            </a:r>
            <a:endParaRPr lang="es-ES" dirty="0"/>
          </a:p>
          <a:p>
            <a:pPr algn="just"/>
            <a:r>
              <a:rPr lang="es-ES" dirty="0"/>
              <a:t>Decimos que un </a:t>
            </a:r>
            <a:r>
              <a:rPr lang="es-ES" b="1" dirty="0"/>
              <a:t>protocolo</a:t>
            </a:r>
            <a:r>
              <a:rPr lang="es-ES" dirty="0"/>
              <a:t> es un documento que define las reglas y la estructura de los mensajes que se  van a intercambiar entre maquinas. </a:t>
            </a:r>
            <a:endParaRPr lang="es-ES" b="0" dirty="0">
              <a:effectLst/>
            </a:endParaRPr>
          </a:p>
          <a:p>
            <a:pPr marL="0" indent="0" algn="just">
              <a:buNone/>
            </a:pPr>
            <a:br>
              <a:rPr lang="es-ES" b="0" dirty="0">
                <a:effectLst/>
              </a:rPr>
            </a:br>
            <a:r>
              <a:rPr lang="es-ES" b="1" dirty="0"/>
              <a:t>HTTP (</a:t>
            </a:r>
            <a:r>
              <a:rPr lang="en-US" dirty="0"/>
              <a:t>Hypertext Transfer Protocol) </a:t>
            </a:r>
            <a:r>
              <a:rPr lang="es-ES" dirty="0"/>
              <a:t>es un protocolo cliente-servidor, donde el cliente envía una </a:t>
            </a:r>
            <a:r>
              <a:rPr lang="es-ES" b="1" dirty="0"/>
              <a:t>petición</a:t>
            </a:r>
            <a:r>
              <a:rPr lang="es-ES" dirty="0"/>
              <a:t> al servidor y espera un mensaje de </a:t>
            </a:r>
            <a:r>
              <a:rPr lang="es-ES" b="1" dirty="0"/>
              <a:t>respuesta</a:t>
            </a:r>
            <a:endParaRPr lang="es-ES" b="0" dirty="0">
              <a:effectLst/>
            </a:endParaRPr>
          </a:p>
          <a:p>
            <a:pPr marL="0" indent="0">
              <a:buNone/>
            </a:pPr>
            <a:br>
              <a:rPr lang="es-E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71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058091"/>
            <a:ext cx="10515600" cy="893854"/>
          </a:xfrm>
        </p:spPr>
        <p:txBody>
          <a:bodyPr/>
          <a:lstStyle/>
          <a:p>
            <a:pPr algn="ctr"/>
            <a:r>
              <a:rPr lang="es-ES" b="1" dirty="0"/>
              <a:t>Api (</a:t>
            </a:r>
            <a:r>
              <a:rPr lang="en-US" b="1" i="1" dirty="0"/>
              <a:t>Application Programming Interface</a:t>
            </a:r>
            <a:r>
              <a:rPr lang="es-ES" b="1" dirty="0"/>
              <a:t>)</a:t>
            </a:r>
            <a:endParaRPr lang="en-U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374265"/>
            <a:ext cx="10515600" cy="3843655"/>
          </a:xfrm>
        </p:spPr>
        <p:txBody>
          <a:bodyPr/>
          <a:lstStyle/>
          <a:p>
            <a:pPr algn="just"/>
            <a:r>
              <a:rPr lang="es-CO" dirty="0"/>
              <a:t>Una API es un conjunto de protocolos que se utiliza para integrar los sistemas de software de las aplicaciones</a:t>
            </a:r>
          </a:p>
          <a:p>
            <a:r>
              <a:rPr lang="es-CO" dirty="0"/>
              <a:t>Es un contrato entre el usuario y el proveedor de información</a:t>
            </a:r>
          </a:p>
          <a:p>
            <a:pPr algn="just"/>
            <a:r>
              <a:rPr lang="es-CO" dirty="0"/>
              <a:t>las API te permiten interactuar con un sistema para obtener datos o ejecutar una función, de manera que el sistema comprenda la solicitud y la cumpla. </a:t>
            </a:r>
          </a:p>
          <a:p>
            <a:pPr algn="just"/>
            <a:r>
              <a:rPr lang="es-ES" dirty="0"/>
              <a:t>Una API es un conjunto de rutinas que ofrece acceso a funciones, procedimientos o métodos entre aplicaciones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97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9640" y="809263"/>
            <a:ext cx="10515600" cy="810532"/>
          </a:xfrm>
        </p:spPr>
        <p:txBody>
          <a:bodyPr/>
          <a:lstStyle/>
          <a:p>
            <a:pPr algn="ctr"/>
            <a:r>
              <a:rPr lang="es-CO" b="1" dirty="0"/>
              <a:t>Ventajas de las </a:t>
            </a:r>
            <a:r>
              <a:rPr lang="es-CO" b="1" dirty="0" err="1"/>
              <a:t>APIs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algn="just"/>
            <a:r>
              <a:rPr lang="es-CO" b="1" dirty="0"/>
              <a:t>Aplicaciones</a:t>
            </a:r>
            <a:r>
              <a:rPr lang="es-CO" dirty="0"/>
              <a:t>: el acceso a </a:t>
            </a:r>
            <a:r>
              <a:rPr lang="es-CO" dirty="0" err="1"/>
              <a:t>APIs</a:t>
            </a:r>
            <a:r>
              <a:rPr lang="es-CO" dirty="0"/>
              <a:t> garantiza mayor flexibilidad en procesos de transferencia de información.</a:t>
            </a:r>
            <a:endParaRPr lang="en-US" dirty="0"/>
          </a:p>
          <a:p>
            <a:pPr lvl="0" algn="just"/>
            <a:r>
              <a:rPr lang="es-CO" b="1" dirty="0"/>
              <a:t>Alcance:</a:t>
            </a:r>
            <a:r>
              <a:rPr lang="es-CO" dirty="0"/>
              <a:t> a través de ellas es posible crear capas de aplicaciones con el objetivo de distribuir información a diferentes audiencias.</a:t>
            </a:r>
            <a:endParaRPr lang="en-US" dirty="0"/>
          </a:p>
          <a:p>
            <a:pPr lvl="0" algn="just"/>
            <a:r>
              <a:rPr lang="es-CO" b="1" dirty="0"/>
              <a:t>Personalización:</a:t>
            </a:r>
            <a:r>
              <a:rPr lang="es-CO" dirty="0"/>
              <a:t> Se pueden crear experiencias diferenciadas hacia el usuario, permitiendo adaptar protocolos, funciones y comandos según requerimientos específicos.</a:t>
            </a:r>
            <a:endParaRPr lang="en-US" dirty="0"/>
          </a:p>
          <a:p>
            <a:pPr lvl="0" algn="just"/>
            <a:r>
              <a:rPr lang="es-CO" b="1" dirty="0"/>
              <a:t>Eficiencia:</a:t>
            </a:r>
            <a:r>
              <a:rPr lang="es-CO" dirty="0"/>
              <a:t> al tener contenido que se publica de forma automática y se hace disponible en diversos canales simultáneamente, las </a:t>
            </a:r>
            <a:r>
              <a:rPr lang="es-CO" dirty="0" err="1"/>
              <a:t>APIs</a:t>
            </a:r>
            <a:r>
              <a:rPr lang="es-CO" dirty="0"/>
              <a:t> permiten distribuir más eficientemente los datos.</a:t>
            </a:r>
            <a:endParaRPr lang="en-US" dirty="0"/>
          </a:p>
          <a:p>
            <a:pPr lvl="0" algn="just"/>
            <a:r>
              <a:rPr lang="es-CO" b="1" dirty="0"/>
              <a:t>Adaptabilidad:</a:t>
            </a:r>
            <a:r>
              <a:rPr lang="es-CO" dirty="0"/>
              <a:t> uno de los grandes beneficios de las </a:t>
            </a:r>
            <a:r>
              <a:rPr lang="es-CO" dirty="0" err="1"/>
              <a:t>APIs</a:t>
            </a:r>
            <a:r>
              <a:rPr lang="es-CO" dirty="0"/>
              <a:t> es la capacidad que tienen de adaptarse a cambios a través de la migración de datos y la flexibilidad de servicios.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36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10940"/>
          </a:xfrm>
        </p:spPr>
        <p:txBody>
          <a:bodyPr>
            <a:normAutofit/>
          </a:bodyPr>
          <a:lstStyle/>
          <a:p>
            <a:r>
              <a:rPr lang="es-ES" sz="4400" b="1" dirty="0"/>
              <a:t>Api Web</a:t>
            </a:r>
            <a:endParaRPr lang="en-US" sz="44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246811"/>
            <a:ext cx="9144000" cy="3762103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600" dirty="0"/>
              <a:t>Es una interfaz para acceder a los recursos del servidor a través del protocolo HTTP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600" dirty="0"/>
              <a:t>una API Web puede construirse en diferentes lenguajes  como Java y ASP.NET.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600" dirty="0"/>
              <a:t>Las API Web se utilizan en un sistema distribuido para prestar servicios en distintos dispositivos, como </a:t>
            </a:r>
            <a:r>
              <a:rPr lang="es-ES" sz="2600" dirty="0" err="1"/>
              <a:t>smartphones</a:t>
            </a:r>
            <a:r>
              <a:rPr lang="es-ES" sz="2600" dirty="0"/>
              <a:t> y ordenadores portátiles, y se limitan al lado cliente de la aplicación web.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600" b="1" dirty="0"/>
              <a:t>Un ejemplo de una API web es la de </a:t>
            </a:r>
            <a:r>
              <a:rPr lang="es-ES" sz="2600" b="1" dirty="0" err="1"/>
              <a:t>Google:</a:t>
            </a:r>
            <a:r>
              <a:rPr lang="es-ES" sz="2600" dirty="0" err="1"/>
              <a:t>que</a:t>
            </a:r>
            <a:r>
              <a:rPr lang="es-ES" sz="2600" dirty="0"/>
              <a:t> incluye API de YouTube, cuya tarea es permitir incrustar vídeos de YouTube en sus aplicaciones, como sitios web.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0180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514249"/>
            <a:ext cx="9144000" cy="863191"/>
          </a:xfrm>
        </p:spPr>
        <p:txBody>
          <a:bodyPr>
            <a:normAutofit/>
          </a:bodyPr>
          <a:lstStyle/>
          <a:p>
            <a:r>
              <a:rPr lang="es-ES" sz="4400" b="1" dirty="0" err="1"/>
              <a:t>Rest</a:t>
            </a:r>
            <a:r>
              <a:rPr lang="es-ES" sz="4400" b="1" dirty="0"/>
              <a:t> (</a:t>
            </a:r>
            <a:r>
              <a:rPr lang="es-ES" sz="4400" b="1" dirty="0" err="1"/>
              <a:t>Representational</a:t>
            </a:r>
            <a:r>
              <a:rPr lang="es-ES" sz="4400" b="1" dirty="0"/>
              <a:t>  </a:t>
            </a:r>
            <a:r>
              <a:rPr lang="es-ES" sz="4400" b="1" dirty="0" err="1"/>
              <a:t>State</a:t>
            </a:r>
            <a:r>
              <a:rPr lang="es-ES" sz="4400" b="1" dirty="0"/>
              <a:t> Transfer)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821578"/>
            <a:ext cx="9144000" cy="2612571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600" dirty="0"/>
              <a:t>API REST no es un protocolo. Es una arquitectura, y es la arquitectura más popular para desarrollar </a:t>
            </a:r>
            <a:r>
              <a:rPr lang="es-ES" sz="2600" dirty="0" err="1"/>
              <a:t>APIs</a:t>
            </a:r>
            <a:endParaRPr lang="es-ES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/>
              <a:t>REST, se puede definir como un tipo de arquitectura de software enfocado en definir reglas y recomendaciones para construir API WEB, estableciendo desde su implementación una comunicación eficiente entre cliente y servidor.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457608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562747"/>
          </a:xfrm>
        </p:spPr>
        <p:txBody>
          <a:bodyPr>
            <a:normAutofit fontScale="90000"/>
          </a:bodyPr>
          <a:lstStyle/>
          <a:p>
            <a:br>
              <a:rPr lang="es-CO" sz="4400" dirty="0"/>
            </a:br>
            <a:br>
              <a:rPr lang="es-CO" sz="4400" dirty="0"/>
            </a:br>
            <a:br>
              <a:rPr lang="en-US" sz="4400" dirty="0"/>
            </a:br>
            <a:r>
              <a:rPr lang="es-CO" sz="4400" b="1" dirty="0"/>
              <a:t>Características de una Api </a:t>
            </a:r>
            <a:r>
              <a:rPr lang="es-CO" sz="4400" b="1" dirty="0" err="1"/>
              <a:t>Rest</a:t>
            </a:r>
            <a:endParaRPr lang="es-CO" sz="44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1972491"/>
            <a:ext cx="9144000" cy="3775166"/>
          </a:xfrm>
        </p:spPr>
        <p:txBody>
          <a:bodyPr>
            <a:normAutofit fontScale="92500" lnSpcReduction="20000"/>
          </a:bodyPr>
          <a:lstStyle/>
          <a:p>
            <a:pPr lvl="0" algn="just"/>
            <a:r>
              <a:rPr lang="es-CO" sz="2800" dirty="0">
                <a:latin typeface="+mj-lt"/>
              </a:rPr>
              <a:t>Permite integrar aplicaciones y conectar componentes en arquitecturas de </a:t>
            </a:r>
            <a:r>
              <a:rPr lang="es-CO" sz="2800" dirty="0" err="1">
                <a:latin typeface="+mj-lt"/>
              </a:rPr>
              <a:t>microservicios</a:t>
            </a:r>
            <a:r>
              <a:rPr lang="es-CO" sz="2800" dirty="0">
                <a:latin typeface="+mj-lt"/>
              </a:rPr>
              <a:t> (</a:t>
            </a:r>
            <a:r>
              <a:rPr lang="es-ES" sz="2800" dirty="0">
                <a:latin typeface="+mj-lt"/>
              </a:rPr>
              <a:t>módulo que se usa para construir aplicaciones complejas)</a:t>
            </a:r>
            <a:endParaRPr lang="en-US" sz="2800" dirty="0">
              <a:latin typeface="+mj-lt"/>
            </a:endParaRPr>
          </a:p>
          <a:p>
            <a:pPr lvl="0" algn="just"/>
            <a:r>
              <a:rPr lang="es-CO" sz="2800" dirty="0">
                <a:latin typeface="+mj-lt"/>
              </a:rPr>
              <a:t>Se basa en estándares de comunicación de software seguros, confiables y eficientes </a:t>
            </a:r>
            <a:endParaRPr lang="en-US" sz="2800" dirty="0">
              <a:latin typeface="+mj-lt"/>
            </a:endParaRPr>
          </a:p>
          <a:p>
            <a:pPr lvl="0" algn="just"/>
            <a:r>
              <a:rPr lang="es-CO" sz="2800" dirty="0">
                <a:latin typeface="+mj-lt"/>
              </a:rPr>
              <a:t>Cada petición del cliente al servidor debe contener toda la información necesaria para completar la petición </a:t>
            </a:r>
            <a:endParaRPr lang="en-US" sz="2800" dirty="0">
              <a:latin typeface="+mj-lt"/>
            </a:endParaRPr>
          </a:p>
          <a:p>
            <a:pPr lvl="0" algn="just"/>
            <a:r>
              <a:rPr lang="es-CO" sz="2800" dirty="0">
                <a:latin typeface="+mj-lt"/>
              </a:rPr>
              <a:t>El servidor no almacena ninguna información sobre peticiones anteriores </a:t>
            </a:r>
            <a:endParaRPr lang="en-US" sz="2800" dirty="0">
              <a:latin typeface="+mj-lt"/>
            </a:endParaRPr>
          </a:p>
          <a:p>
            <a:pPr lvl="0" algn="just"/>
            <a:r>
              <a:rPr lang="es-CO" sz="2800" dirty="0">
                <a:latin typeface="+mj-lt"/>
              </a:rPr>
              <a:t>Los datos almacenables en caché se pueden reciclar para solicitudes similares en el futuro </a:t>
            </a:r>
            <a:endParaRPr lang="en-US" sz="2800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62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Métodos </a:t>
            </a:r>
            <a:r>
              <a:rPr lang="es-ES" b="1" dirty="0" err="1"/>
              <a:t>Get</a:t>
            </a:r>
            <a:r>
              <a:rPr lang="es-ES" b="1" dirty="0"/>
              <a:t>, Post, </a:t>
            </a:r>
            <a:r>
              <a:rPr lang="es-ES" b="1" dirty="0" err="1"/>
              <a:t>Put</a:t>
            </a:r>
            <a:r>
              <a:rPr lang="es-ES" b="1" dirty="0"/>
              <a:t> y </a:t>
            </a:r>
            <a:r>
              <a:rPr lang="es-ES" b="1" dirty="0" err="1"/>
              <a:t>Delete</a:t>
            </a:r>
            <a:endParaRPr lang="en-U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O" b="1" dirty="0" err="1"/>
              <a:t>Get</a:t>
            </a:r>
            <a:r>
              <a:rPr lang="es-CO" dirty="0"/>
              <a:t> </a:t>
            </a:r>
            <a:r>
              <a:rPr lang="es-CO" dirty="0">
                <a:sym typeface="Wingdings" panose="05000000000000000000" pitchFamily="2" charset="2"/>
              </a:rPr>
              <a:t> </a:t>
            </a:r>
            <a:r>
              <a:rPr lang="es-CO" dirty="0"/>
              <a:t>Es un método HTTP, realiza peticiones a un recurso específico. Esta petición retorna tanto la cabecera como el contenido. </a:t>
            </a:r>
          </a:p>
          <a:p>
            <a:pPr algn="just"/>
            <a:r>
              <a:rPr lang="es-CO" dirty="0"/>
              <a:t>Retorna respuestas en formato HTML, JSON, XML o Se utiliza para consultar información como una SELECT a la base de datos.</a:t>
            </a:r>
          </a:p>
          <a:p>
            <a:pPr algn="just"/>
            <a:r>
              <a:rPr lang="es-CO" b="1" dirty="0"/>
              <a:t>Post</a:t>
            </a:r>
            <a:r>
              <a:rPr lang="es-CO" dirty="0"/>
              <a:t> </a:t>
            </a:r>
            <a:r>
              <a:rPr lang="es-CO" dirty="0">
                <a:sym typeface="Wingdings" panose="05000000000000000000" pitchFamily="2" charset="2"/>
              </a:rPr>
              <a:t> </a:t>
            </a:r>
            <a:r>
              <a:rPr lang="es-ES" dirty="0"/>
              <a:t>Es un método HTTP, este puede enviar datos al servidor por medio del cuerpo (</a:t>
            </a:r>
            <a:r>
              <a:rPr lang="es-ES" dirty="0" err="1"/>
              <a:t>body</a:t>
            </a:r>
            <a:r>
              <a:rPr lang="es-ES" dirty="0"/>
              <a:t>) </a:t>
            </a:r>
          </a:p>
          <a:p>
            <a:pPr algn="just"/>
            <a:r>
              <a:rPr lang="es-ES" dirty="0"/>
              <a:t>similar al INSERT de datos a nivel de base de datos. El POST usa formato JSON para enviar los datos a formularios</a:t>
            </a:r>
            <a:endParaRPr lang="es-C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08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Métodos </a:t>
            </a:r>
            <a:r>
              <a:rPr lang="es-ES" b="1" dirty="0" err="1"/>
              <a:t>Get</a:t>
            </a:r>
            <a:r>
              <a:rPr lang="es-ES" b="1" dirty="0"/>
              <a:t>, Post, </a:t>
            </a:r>
            <a:r>
              <a:rPr lang="es-ES" b="1" dirty="0" err="1"/>
              <a:t>Put</a:t>
            </a:r>
            <a:r>
              <a:rPr lang="es-ES" b="1" dirty="0"/>
              <a:t> y </a:t>
            </a:r>
            <a:r>
              <a:rPr lang="es-ES" b="1" dirty="0" err="1"/>
              <a:t>Delete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b="1" dirty="0" err="1"/>
              <a:t>Put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sz="2600" dirty="0">
                <a:sym typeface="Wingdings" panose="05000000000000000000" pitchFamily="2" charset="2"/>
              </a:rPr>
              <a:t> </a:t>
            </a:r>
            <a:r>
              <a:rPr lang="es-ES" dirty="0"/>
              <a:t>Es un método HTTP, Es similar al método de petición POST (que cada vez que se ejecuta realizar una agregación), pero puede ser ejecutado varias veces</a:t>
            </a:r>
          </a:p>
          <a:p>
            <a:pPr algn="just"/>
            <a:r>
              <a:rPr lang="es-ES" dirty="0"/>
              <a:t>Se utiliza para la actualización de información existente, es semejante a un UPDATE de datos a nivel de base de datos. La información se envía utilizando formatos JSON entre otros.  </a:t>
            </a:r>
          </a:p>
          <a:p>
            <a:pPr algn="just"/>
            <a:r>
              <a:rPr lang="es-ES" b="1" dirty="0" err="1"/>
              <a:t>Delete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/>
              <a:t>Es un método HTTP, permite eliminar un recurso específico, puede ser ejecutado varias veces </a:t>
            </a:r>
          </a:p>
          <a:p>
            <a:pPr algn="just"/>
            <a:r>
              <a:rPr lang="es-ES" dirty="0"/>
              <a:t>Se utiliza para eliminar de información existente, es semejante a un DELETE de datos a nivel de base de datos.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093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7C032-AB59-46F5-92CD-86EB97D2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5888"/>
            <a:ext cx="10515600" cy="796701"/>
          </a:xfrm>
        </p:spPr>
        <p:txBody>
          <a:bodyPr>
            <a:normAutofit fontScale="90000"/>
          </a:bodyPr>
          <a:lstStyle/>
          <a:p>
            <a:pPr algn="ctr"/>
            <a:br>
              <a:rPr lang="es-CO" dirty="0"/>
            </a:br>
            <a:r>
              <a:rPr lang="es-CO" b="1" dirty="0" err="1"/>
              <a:t>Json</a:t>
            </a:r>
            <a:r>
              <a:rPr lang="es-CO" b="1" dirty="0"/>
              <a:t> (JavaScript </a:t>
            </a:r>
            <a:r>
              <a:rPr lang="es-CO" b="1" dirty="0" err="1"/>
              <a:t>object</a:t>
            </a:r>
            <a:r>
              <a:rPr lang="es-CO" b="1" dirty="0"/>
              <a:t> </a:t>
            </a:r>
            <a:r>
              <a:rPr lang="es-CO" b="1" dirty="0" err="1"/>
              <a:t>Notation</a:t>
            </a:r>
            <a:r>
              <a:rPr lang="es-CO" b="1" dirty="0"/>
              <a:t>)</a:t>
            </a:r>
            <a:br>
              <a:rPr lang="es-CO" b="1" dirty="0"/>
            </a:b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59252C-B7ED-4F39-8A96-821697A6E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0772"/>
            <a:ext cx="10515600" cy="403619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MX" sz="2600" dirty="0"/>
              <a:t>Es un formato basado en texto para almacenar e intercambiar información de una manera fácil entre el cliente y el servidor</a:t>
            </a:r>
          </a:p>
          <a:p>
            <a:r>
              <a:rPr lang="es-CO" dirty="0"/>
              <a:t>{</a:t>
            </a:r>
            <a:br>
              <a:rPr lang="es-CO" dirty="0"/>
            </a:br>
            <a:r>
              <a:rPr lang="es-CO" dirty="0"/>
              <a:t>“idUsuario”:”101010”,</a:t>
            </a:r>
          </a:p>
          <a:p>
            <a:pPr marL="0" indent="0">
              <a:buNone/>
            </a:pPr>
            <a:r>
              <a:rPr lang="es-CO" dirty="0"/>
              <a:t>   “</a:t>
            </a:r>
            <a:r>
              <a:rPr lang="es-CO" dirty="0" err="1"/>
              <a:t>nombre”:“Pedro</a:t>
            </a:r>
            <a:r>
              <a:rPr lang="es-CO" dirty="0"/>
              <a:t> Paramo”,</a:t>
            </a:r>
          </a:p>
          <a:p>
            <a:pPr marL="0" indent="0">
              <a:buNone/>
            </a:pPr>
            <a:r>
              <a:rPr lang="es-CO" dirty="0"/>
              <a:t>   “</a:t>
            </a:r>
            <a:r>
              <a:rPr lang="es-CO" dirty="0" err="1"/>
              <a:t>correo”:</a:t>
            </a:r>
            <a:r>
              <a:rPr lang="es-CO" u="sng" dirty="0" err="1">
                <a:hlinkClick r:id="rId2"/>
              </a:rPr>
              <a:t>“pp@gmail.com</a:t>
            </a:r>
            <a:r>
              <a:rPr lang="es-CO" dirty="0"/>
              <a:t>”,</a:t>
            </a:r>
          </a:p>
          <a:p>
            <a:pPr marL="0" indent="0">
              <a:buNone/>
            </a:pPr>
            <a:r>
              <a:rPr lang="es-CO" dirty="0"/>
              <a:t>   “password”:”pedro123*”</a:t>
            </a:r>
          </a:p>
          <a:p>
            <a:pPr marL="0" indent="0">
              <a:buNone/>
            </a:pPr>
            <a:r>
              <a:rPr lang="es-CO" dirty="0"/>
              <a:t>  }</a:t>
            </a:r>
          </a:p>
          <a:p>
            <a:r>
              <a:rPr lang="es-MX" sz="2600" dirty="0"/>
              <a:t>JSON es un formato ideal para intercambiar datos a través de diferentes lenguajes de programación y plataformas.</a:t>
            </a:r>
            <a:br>
              <a:rPr lang="es-CO" sz="2400" dirty="0"/>
            </a:br>
            <a:endParaRPr lang="es-CO" sz="2600" dirty="0"/>
          </a:p>
        </p:txBody>
      </p:sp>
    </p:spTree>
    <p:extLst>
      <p:ext uri="{BB962C8B-B14F-4D97-AF65-F5344CB8AC3E}">
        <p14:creationId xmlns:p14="http://schemas.microsoft.com/office/powerpoint/2010/main" val="10079665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862</Words>
  <Application>Microsoft Office PowerPoint</Application>
  <PresentationFormat>Panorámica</PresentationFormat>
  <Paragraphs>51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Tema de Office</vt:lpstr>
      <vt:lpstr>Conceptos de Apis</vt:lpstr>
      <vt:lpstr>Protocolos</vt:lpstr>
      <vt:lpstr>Api (Application Programming Interface)</vt:lpstr>
      <vt:lpstr>Ventajas de las APIs</vt:lpstr>
      <vt:lpstr>Api Web</vt:lpstr>
      <vt:lpstr>Rest (Representational  State Transfer)</vt:lpstr>
      <vt:lpstr>   Características de una Api Rest</vt:lpstr>
      <vt:lpstr>Métodos Get, Post, Put y Delete</vt:lpstr>
      <vt:lpstr>Métodos Get, Post, Put y Delete</vt:lpstr>
      <vt:lpstr> Json (JavaScript object Notation)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Conceptos de Api Rest</dc:title>
  <dc:creator>FreddyMC</dc:creator>
  <cp:lastModifiedBy>desarrollo</cp:lastModifiedBy>
  <cp:revision>25</cp:revision>
  <dcterms:created xsi:type="dcterms:W3CDTF">2025-02-26T21:17:40Z</dcterms:created>
  <dcterms:modified xsi:type="dcterms:W3CDTF">2026-08-15T20:35:12Z</dcterms:modified>
</cp:coreProperties>
</file>